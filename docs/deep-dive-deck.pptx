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0" r:id="rId3"/>
    <p:sldId id="27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702"/>
  </p:normalViewPr>
  <p:slideViewPr>
    <p:cSldViewPr snapToGrid="0" snapToObjects="1">
      <p:cViewPr varScale="1">
        <p:scale>
          <a:sx n="146" d="100"/>
          <a:sy n="146" d="100"/>
        </p:scale>
        <p:origin x="2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7B4873-AC1B-264D-B7DF-118BF1F1AE39}" type="doc">
      <dgm:prSet loTypeId="urn:microsoft.com/office/officeart/2005/8/layout/pyramid1" loCatId="" qsTypeId="urn:microsoft.com/office/officeart/2005/8/quickstyle/simple1" qsCatId="simple" csTypeId="urn:microsoft.com/office/officeart/2005/8/colors/accent1_2" csCatId="accent1" phldr="1"/>
      <dgm:spPr/>
    </dgm:pt>
    <dgm:pt modelId="{A0ABA332-4194-1E41-AB20-FF073C136060}">
      <dgm:prSet phldrT="[Text]"/>
      <dgm:spPr/>
      <dgm:t>
        <a:bodyPr/>
        <a:lstStyle/>
        <a:p>
          <a:r>
            <a:rPr lang="en-US" dirty="0"/>
            <a:t>Infrastructure</a:t>
          </a:r>
        </a:p>
      </dgm:t>
    </dgm:pt>
    <dgm:pt modelId="{0E6564C5-548C-4C40-85E5-34616EC8608E}" type="parTrans" cxnId="{A1976AA2-45B6-5340-AA37-7402456D497F}">
      <dgm:prSet/>
      <dgm:spPr/>
      <dgm:t>
        <a:bodyPr/>
        <a:lstStyle/>
        <a:p>
          <a:endParaRPr lang="en-US"/>
        </a:p>
      </dgm:t>
    </dgm:pt>
    <dgm:pt modelId="{4FDD1742-40AF-D842-BB90-8CAF28E87945}" type="sibTrans" cxnId="{A1976AA2-45B6-5340-AA37-7402456D497F}">
      <dgm:prSet/>
      <dgm:spPr/>
      <dgm:t>
        <a:bodyPr/>
        <a:lstStyle/>
        <a:p>
          <a:endParaRPr lang="en-US"/>
        </a:p>
      </dgm:t>
    </dgm:pt>
    <dgm:pt modelId="{0AF69C21-8D13-5F44-ABC0-9DF9687572FE}">
      <dgm:prSet phldrT="[Text]"/>
      <dgm:spPr/>
      <dgm:t>
        <a:bodyPr/>
        <a:lstStyle/>
        <a:p>
          <a:r>
            <a:rPr lang="en-US" dirty="0"/>
            <a:t>Server</a:t>
          </a:r>
        </a:p>
      </dgm:t>
    </dgm:pt>
    <dgm:pt modelId="{24DCF1B1-FD86-CC4E-96EC-805D3D1933E2}" type="parTrans" cxnId="{0197F22A-D476-EE40-8933-7C1DB059A737}">
      <dgm:prSet/>
      <dgm:spPr/>
      <dgm:t>
        <a:bodyPr/>
        <a:lstStyle/>
        <a:p>
          <a:endParaRPr lang="en-US"/>
        </a:p>
      </dgm:t>
    </dgm:pt>
    <dgm:pt modelId="{CCB00AF9-55C4-1249-875D-29E492A0DE39}" type="sibTrans" cxnId="{0197F22A-D476-EE40-8933-7C1DB059A737}">
      <dgm:prSet/>
      <dgm:spPr/>
      <dgm:t>
        <a:bodyPr/>
        <a:lstStyle/>
        <a:p>
          <a:endParaRPr lang="en-US"/>
        </a:p>
      </dgm:t>
    </dgm:pt>
    <dgm:pt modelId="{A918B042-918C-1E45-B3D6-045B86EE9E60}">
      <dgm:prSet phldrT="[Text]"/>
      <dgm:spPr/>
      <dgm:t>
        <a:bodyPr/>
        <a:lstStyle/>
        <a:p>
          <a:r>
            <a:rPr lang="en-US" dirty="0"/>
            <a:t>Model</a:t>
          </a:r>
        </a:p>
      </dgm:t>
    </dgm:pt>
    <dgm:pt modelId="{A92E8688-03B2-024C-B4AC-5BAD4EAF6E3B}" type="parTrans" cxnId="{1983E694-F12E-5B4D-BBDD-13E493EF5CA0}">
      <dgm:prSet/>
      <dgm:spPr/>
      <dgm:t>
        <a:bodyPr/>
        <a:lstStyle/>
        <a:p>
          <a:endParaRPr lang="en-US"/>
        </a:p>
      </dgm:t>
    </dgm:pt>
    <dgm:pt modelId="{951DAA10-B4DE-8C45-9F7C-CF18138CFEE2}" type="sibTrans" cxnId="{1983E694-F12E-5B4D-BBDD-13E493EF5CA0}">
      <dgm:prSet/>
      <dgm:spPr/>
      <dgm:t>
        <a:bodyPr/>
        <a:lstStyle/>
        <a:p>
          <a:endParaRPr lang="en-US"/>
        </a:p>
      </dgm:t>
    </dgm:pt>
    <dgm:pt modelId="{43A5D809-AA4B-E643-8D0D-BC8A9728F960}">
      <dgm:prSet/>
      <dgm:spPr/>
      <dgm:t>
        <a:bodyPr/>
        <a:lstStyle/>
        <a:p>
          <a:r>
            <a:rPr lang="en-US" dirty="0"/>
            <a:t>Service</a:t>
          </a:r>
        </a:p>
      </dgm:t>
    </dgm:pt>
    <dgm:pt modelId="{B1628779-0229-E84C-8505-57CD2CEED384}" type="parTrans" cxnId="{DC0EAE68-C972-6D4A-AC17-F67715B039E9}">
      <dgm:prSet/>
      <dgm:spPr/>
      <dgm:t>
        <a:bodyPr/>
        <a:lstStyle/>
        <a:p>
          <a:endParaRPr lang="en-US"/>
        </a:p>
      </dgm:t>
    </dgm:pt>
    <dgm:pt modelId="{1F0BFDE7-0111-DB49-9E8C-A1A61402FCC7}" type="sibTrans" cxnId="{DC0EAE68-C972-6D4A-AC17-F67715B039E9}">
      <dgm:prSet/>
      <dgm:spPr/>
      <dgm:t>
        <a:bodyPr/>
        <a:lstStyle/>
        <a:p>
          <a:endParaRPr lang="en-US"/>
        </a:p>
      </dgm:t>
    </dgm:pt>
    <dgm:pt modelId="{34672981-F5AF-7A42-9ECD-C516DABAD77B}">
      <dgm:prSet/>
      <dgm:spPr/>
      <dgm:t>
        <a:bodyPr/>
        <a:lstStyle/>
        <a:p>
          <a:endParaRPr lang="en-US"/>
        </a:p>
      </dgm:t>
    </dgm:pt>
    <dgm:pt modelId="{4814B457-A192-5940-A1FF-8CCA2528F70E}" type="parTrans" cxnId="{497554EE-5E9E-AA47-8008-13CD226D2361}">
      <dgm:prSet/>
      <dgm:spPr/>
      <dgm:t>
        <a:bodyPr/>
        <a:lstStyle/>
        <a:p>
          <a:endParaRPr lang="en-US"/>
        </a:p>
      </dgm:t>
    </dgm:pt>
    <dgm:pt modelId="{3FC49E95-C237-454B-97BE-7633A73F68E2}" type="sibTrans" cxnId="{497554EE-5E9E-AA47-8008-13CD226D2361}">
      <dgm:prSet/>
      <dgm:spPr/>
      <dgm:t>
        <a:bodyPr/>
        <a:lstStyle/>
        <a:p>
          <a:endParaRPr lang="en-US"/>
        </a:p>
      </dgm:t>
    </dgm:pt>
    <dgm:pt modelId="{FEF1A858-7436-994D-BA25-BEA2335F6A2E}" type="pres">
      <dgm:prSet presAssocID="{0C7B4873-AC1B-264D-B7DF-118BF1F1AE39}" presName="Name0" presStyleCnt="0">
        <dgm:presLayoutVars>
          <dgm:dir/>
          <dgm:animLvl val="lvl"/>
          <dgm:resizeHandles val="exact"/>
        </dgm:presLayoutVars>
      </dgm:prSet>
      <dgm:spPr/>
    </dgm:pt>
    <dgm:pt modelId="{92C217D5-CCEF-A04E-8271-E8C40EBD3AF8}" type="pres">
      <dgm:prSet presAssocID="{34672981-F5AF-7A42-9ECD-C516DABAD77B}" presName="Name8" presStyleCnt="0"/>
      <dgm:spPr/>
    </dgm:pt>
    <dgm:pt modelId="{99D0B47C-7B6D-8548-8ABC-E1B6D47B334E}" type="pres">
      <dgm:prSet presAssocID="{34672981-F5AF-7A42-9ECD-C516DABAD77B}" presName="level" presStyleLbl="node1" presStyleIdx="0" presStyleCnt="5">
        <dgm:presLayoutVars>
          <dgm:chMax val="1"/>
          <dgm:bulletEnabled val="1"/>
        </dgm:presLayoutVars>
      </dgm:prSet>
      <dgm:spPr/>
    </dgm:pt>
    <dgm:pt modelId="{C626686F-6C7E-C64A-9A49-A4656105DB04}" type="pres">
      <dgm:prSet presAssocID="{34672981-F5AF-7A42-9ECD-C516DABAD77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4F26BF93-3D29-7441-8A30-DAE1C73389DF}" type="pres">
      <dgm:prSet presAssocID="{43A5D809-AA4B-E643-8D0D-BC8A9728F960}" presName="Name8" presStyleCnt="0"/>
      <dgm:spPr/>
    </dgm:pt>
    <dgm:pt modelId="{5DA492F1-328C-0345-953B-EAC6D03E31CD}" type="pres">
      <dgm:prSet presAssocID="{43A5D809-AA4B-E643-8D0D-BC8A9728F960}" presName="level" presStyleLbl="node1" presStyleIdx="1" presStyleCnt="5">
        <dgm:presLayoutVars>
          <dgm:chMax val="1"/>
          <dgm:bulletEnabled val="1"/>
        </dgm:presLayoutVars>
      </dgm:prSet>
      <dgm:spPr/>
    </dgm:pt>
    <dgm:pt modelId="{8882CCE7-5AA9-254C-B912-42E39CBC7E98}" type="pres">
      <dgm:prSet presAssocID="{43A5D809-AA4B-E643-8D0D-BC8A9728F96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4046DE6-3C13-E241-8459-A26EDD85FD2F}" type="pres">
      <dgm:prSet presAssocID="{A0ABA332-4194-1E41-AB20-FF073C136060}" presName="Name8" presStyleCnt="0"/>
      <dgm:spPr/>
    </dgm:pt>
    <dgm:pt modelId="{11698FA1-0919-3146-A99E-9D1E24D6667D}" type="pres">
      <dgm:prSet presAssocID="{A0ABA332-4194-1E41-AB20-FF073C136060}" presName="level" presStyleLbl="node1" presStyleIdx="2" presStyleCnt="5">
        <dgm:presLayoutVars>
          <dgm:chMax val="1"/>
          <dgm:bulletEnabled val="1"/>
        </dgm:presLayoutVars>
      </dgm:prSet>
      <dgm:spPr/>
    </dgm:pt>
    <dgm:pt modelId="{1E4CE40D-32D9-1345-97C0-5B0CE305EBD5}" type="pres">
      <dgm:prSet presAssocID="{A0ABA332-4194-1E41-AB20-FF073C13606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90B3FD7-FE65-A746-B409-88C5A3A4DB9C}" type="pres">
      <dgm:prSet presAssocID="{0AF69C21-8D13-5F44-ABC0-9DF9687572FE}" presName="Name8" presStyleCnt="0"/>
      <dgm:spPr/>
    </dgm:pt>
    <dgm:pt modelId="{E75147AE-9FDC-2342-976B-31003A258864}" type="pres">
      <dgm:prSet presAssocID="{0AF69C21-8D13-5F44-ABC0-9DF9687572FE}" presName="level" presStyleLbl="node1" presStyleIdx="3" presStyleCnt="5">
        <dgm:presLayoutVars>
          <dgm:chMax val="1"/>
          <dgm:bulletEnabled val="1"/>
        </dgm:presLayoutVars>
      </dgm:prSet>
      <dgm:spPr/>
    </dgm:pt>
    <dgm:pt modelId="{9B2851E2-1217-3F4E-A8FC-897FC9F7ACBF}" type="pres">
      <dgm:prSet presAssocID="{0AF69C21-8D13-5F44-ABC0-9DF9687572FE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BBA4A21-9C60-0345-98D0-EB731A92B1FD}" type="pres">
      <dgm:prSet presAssocID="{A918B042-918C-1E45-B3D6-045B86EE9E60}" presName="Name8" presStyleCnt="0"/>
      <dgm:spPr/>
    </dgm:pt>
    <dgm:pt modelId="{A9F40914-851E-754C-9221-35EA83635394}" type="pres">
      <dgm:prSet presAssocID="{A918B042-918C-1E45-B3D6-045B86EE9E60}" presName="level" presStyleLbl="node1" presStyleIdx="4" presStyleCnt="5">
        <dgm:presLayoutVars>
          <dgm:chMax val="1"/>
          <dgm:bulletEnabled val="1"/>
        </dgm:presLayoutVars>
      </dgm:prSet>
      <dgm:spPr/>
    </dgm:pt>
    <dgm:pt modelId="{92FAAF4C-7A43-2849-A01A-2C73D593DC07}" type="pres">
      <dgm:prSet presAssocID="{A918B042-918C-1E45-B3D6-045B86EE9E60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28FBDB28-1C7D-0A42-8EEE-AA8C0C668E96}" type="presOf" srcId="{34672981-F5AF-7A42-9ECD-C516DABAD77B}" destId="{99D0B47C-7B6D-8548-8ABC-E1B6D47B334E}" srcOrd="0" destOrd="0" presId="urn:microsoft.com/office/officeart/2005/8/layout/pyramid1"/>
    <dgm:cxn modelId="{0197F22A-D476-EE40-8933-7C1DB059A737}" srcId="{0C7B4873-AC1B-264D-B7DF-118BF1F1AE39}" destId="{0AF69C21-8D13-5F44-ABC0-9DF9687572FE}" srcOrd="3" destOrd="0" parTransId="{24DCF1B1-FD86-CC4E-96EC-805D3D1933E2}" sibTransId="{CCB00AF9-55C4-1249-875D-29E492A0DE39}"/>
    <dgm:cxn modelId="{916BF92B-3997-3F49-AC5B-95438365C5C9}" type="presOf" srcId="{43A5D809-AA4B-E643-8D0D-BC8A9728F960}" destId="{8882CCE7-5AA9-254C-B912-42E39CBC7E98}" srcOrd="1" destOrd="0" presId="urn:microsoft.com/office/officeart/2005/8/layout/pyramid1"/>
    <dgm:cxn modelId="{50DA323C-45F0-1041-86F4-91E52FED1EF0}" type="presOf" srcId="{A0ABA332-4194-1E41-AB20-FF073C136060}" destId="{1E4CE40D-32D9-1345-97C0-5B0CE305EBD5}" srcOrd="1" destOrd="0" presId="urn:microsoft.com/office/officeart/2005/8/layout/pyramid1"/>
    <dgm:cxn modelId="{95622E41-2A65-D545-8660-C6CA5B4AF009}" type="presOf" srcId="{0C7B4873-AC1B-264D-B7DF-118BF1F1AE39}" destId="{FEF1A858-7436-994D-BA25-BEA2335F6A2E}" srcOrd="0" destOrd="0" presId="urn:microsoft.com/office/officeart/2005/8/layout/pyramid1"/>
    <dgm:cxn modelId="{CCF33E53-F0CA-E047-ABA9-D36881A91000}" type="presOf" srcId="{A918B042-918C-1E45-B3D6-045B86EE9E60}" destId="{A9F40914-851E-754C-9221-35EA83635394}" srcOrd="0" destOrd="0" presId="urn:microsoft.com/office/officeart/2005/8/layout/pyramid1"/>
    <dgm:cxn modelId="{DC0EAE68-C972-6D4A-AC17-F67715B039E9}" srcId="{0C7B4873-AC1B-264D-B7DF-118BF1F1AE39}" destId="{43A5D809-AA4B-E643-8D0D-BC8A9728F960}" srcOrd="1" destOrd="0" parTransId="{B1628779-0229-E84C-8505-57CD2CEED384}" sibTransId="{1F0BFDE7-0111-DB49-9E8C-A1A61402FCC7}"/>
    <dgm:cxn modelId="{1983E694-F12E-5B4D-BBDD-13E493EF5CA0}" srcId="{0C7B4873-AC1B-264D-B7DF-118BF1F1AE39}" destId="{A918B042-918C-1E45-B3D6-045B86EE9E60}" srcOrd="4" destOrd="0" parTransId="{A92E8688-03B2-024C-B4AC-5BAD4EAF6E3B}" sibTransId="{951DAA10-B4DE-8C45-9F7C-CF18138CFEE2}"/>
    <dgm:cxn modelId="{A1976AA2-45B6-5340-AA37-7402456D497F}" srcId="{0C7B4873-AC1B-264D-B7DF-118BF1F1AE39}" destId="{A0ABA332-4194-1E41-AB20-FF073C136060}" srcOrd="2" destOrd="0" parTransId="{0E6564C5-548C-4C40-85E5-34616EC8608E}" sibTransId="{4FDD1742-40AF-D842-BB90-8CAF28E87945}"/>
    <dgm:cxn modelId="{E97E25CF-3C78-2A41-BD5B-C0DDAC630E6D}" type="presOf" srcId="{0AF69C21-8D13-5F44-ABC0-9DF9687572FE}" destId="{E75147AE-9FDC-2342-976B-31003A258864}" srcOrd="0" destOrd="0" presId="urn:microsoft.com/office/officeart/2005/8/layout/pyramid1"/>
    <dgm:cxn modelId="{FC0FCBD5-CA61-2743-B755-0238E6870187}" type="presOf" srcId="{43A5D809-AA4B-E643-8D0D-BC8A9728F960}" destId="{5DA492F1-328C-0345-953B-EAC6D03E31CD}" srcOrd="0" destOrd="0" presId="urn:microsoft.com/office/officeart/2005/8/layout/pyramid1"/>
    <dgm:cxn modelId="{5D3CFFD6-6F65-D24C-9325-0C0B27B2E4EF}" type="presOf" srcId="{0AF69C21-8D13-5F44-ABC0-9DF9687572FE}" destId="{9B2851E2-1217-3F4E-A8FC-897FC9F7ACBF}" srcOrd="1" destOrd="0" presId="urn:microsoft.com/office/officeart/2005/8/layout/pyramid1"/>
    <dgm:cxn modelId="{03BB4CE0-7A1B-9540-A914-A61FBD2A4360}" type="presOf" srcId="{34672981-F5AF-7A42-9ECD-C516DABAD77B}" destId="{C626686F-6C7E-C64A-9A49-A4656105DB04}" srcOrd="1" destOrd="0" presId="urn:microsoft.com/office/officeart/2005/8/layout/pyramid1"/>
    <dgm:cxn modelId="{878A2FE7-DFDC-4142-AFEB-81132F3FD1D3}" type="presOf" srcId="{A0ABA332-4194-1E41-AB20-FF073C136060}" destId="{11698FA1-0919-3146-A99E-9D1E24D6667D}" srcOrd="0" destOrd="0" presId="urn:microsoft.com/office/officeart/2005/8/layout/pyramid1"/>
    <dgm:cxn modelId="{497554EE-5E9E-AA47-8008-13CD226D2361}" srcId="{0C7B4873-AC1B-264D-B7DF-118BF1F1AE39}" destId="{34672981-F5AF-7A42-9ECD-C516DABAD77B}" srcOrd="0" destOrd="0" parTransId="{4814B457-A192-5940-A1FF-8CCA2528F70E}" sibTransId="{3FC49E95-C237-454B-97BE-7633A73F68E2}"/>
    <dgm:cxn modelId="{0AB5B3FC-6845-994D-BCCE-FFD6DBAA94E4}" type="presOf" srcId="{A918B042-918C-1E45-B3D6-045B86EE9E60}" destId="{92FAAF4C-7A43-2849-A01A-2C73D593DC07}" srcOrd="1" destOrd="0" presId="urn:microsoft.com/office/officeart/2005/8/layout/pyramid1"/>
    <dgm:cxn modelId="{AC3F3534-923C-D94D-BC12-A9684D5CED9D}" type="presParOf" srcId="{FEF1A858-7436-994D-BA25-BEA2335F6A2E}" destId="{92C217D5-CCEF-A04E-8271-E8C40EBD3AF8}" srcOrd="0" destOrd="0" presId="urn:microsoft.com/office/officeart/2005/8/layout/pyramid1"/>
    <dgm:cxn modelId="{8296C8FC-1EF6-8B49-BE3C-F3A6A1DDB6BB}" type="presParOf" srcId="{92C217D5-CCEF-A04E-8271-E8C40EBD3AF8}" destId="{99D0B47C-7B6D-8548-8ABC-E1B6D47B334E}" srcOrd="0" destOrd="0" presId="urn:microsoft.com/office/officeart/2005/8/layout/pyramid1"/>
    <dgm:cxn modelId="{C8649DA0-2964-C347-BC69-6978F44DA95E}" type="presParOf" srcId="{92C217D5-CCEF-A04E-8271-E8C40EBD3AF8}" destId="{C626686F-6C7E-C64A-9A49-A4656105DB04}" srcOrd="1" destOrd="0" presId="urn:microsoft.com/office/officeart/2005/8/layout/pyramid1"/>
    <dgm:cxn modelId="{BC0DCA19-9545-824E-860A-F136492DEDA2}" type="presParOf" srcId="{FEF1A858-7436-994D-BA25-BEA2335F6A2E}" destId="{4F26BF93-3D29-7441-8A30-DAE1C73389DF}" srcOrd="1" destOrd="0" presId="urn:microsoft.com/office/officeart/2005/8/layout/pyramid1"/>
    <dgm:cxn modelId="{64FA08B5-CF9A-9441-826A-F11B5A7327A6}" type="presParOf" srcId="{4F26BF93-3D29-7441-8A30-DAE1C73389DF}" destId="{5DA492F1-328C-0345-953B-EAC6D03E31CD}" srcOrd="0" destOrd="0" presId="urn:microsoft.com/office/officeart/2005/8/layout/pyramid1"/>
    <dgm:cxn modelId="{7D296CEB-8A15-064C-AEB7-B090EBED9288}" type="presParOf" srcId="{4F26BF93-3D29-7441-8A30-DAE1C73389DF}" destId="{8882CCE7-5AA9-254C-B912-42E39CBC7E98}" srcOrd="1" destOrd="0" presId="urn:microsoft.com/office/officeart/2005/8/layout/pyramid1"/>
    <dgm:cxn modelId="{55208B18-97E4-034A-A1FA-0FCCC052F4F0}" type="presParOf" srcId="{FEF1A858-7436-994D-BA25-BEA2335F6A2E}" destId="{94046DE6-3C13-E241-8459-A26EDD85FD2F}" srcOrd="2" destOrd="0" presId="urn:microsoft.com/office/officeart/2005/8/layout/pyramid1"/>
    <dgm:cxn modelId="{7E1FFB16-010F-6F49-A090-B91F21A42790}" type="presParOf" srcId="{94046DE6-3C13-E241-8459-A26EDD85FD2F}" destId="{11698FA1-0919-3146-A99E-9D1E24D6667D}" srcOrd="0" destOrd="0" presId="urn:microsoft.com/office/officeart/2005/8/layout/pyramid1"/>
    <dgm:cxn modelId="{D88CC4C3-21AB-7C45-810C-C6AE5A2C0D5A}" type="presParOf" srcId="{94046DE6-3C13-E241-8459-A26EDD85FD2F}" destId="{1E4CE40D-32D9-1345-97C0-5B0CE305EBD5}" srcOrd="1" destOrd="0" presId="urn:microsoft.com/office/officeart/2005/8/layout/pyramid1"/>
    <dgm:cxn modelId="{317B9ADB-485D-094C-B443-DEBCCF3CBDD8}" type="presParOf" srcId="{FEF1A858-7436-994D-BA25-BEA2335F6A2E}" destId="{990B3FD7-FE65-A746-B409-88C5A3A4DB9C}" srcOrd="3" destOrd="0" presId="urn:microsoft.com/office/officeart/2005/8/layout/pyramid1"/>
    <dgm:cxn modelId="{CD1FBCA2-F4E7-7D40-AF95-EAB3E2AA0319}" type="presParOf" srcId="{990B3FD7-FE65-A746-B409-88C5A3A4DB9C}" destId="{E75147AE-9FDC-2342-976B-31003A258864}" srcOrd="0" destOrd="0" presId="urn:microsoft.com/office/officeart/2005/8/layout/pyramid1"/>
    <dgm:cxn modelId="{8D0D3B4B-E5A8-0645-AD76-A2B286B0296E}" type="presParOf" srcId="{990B3FD7-FE65-A746-B409-88C5A3A4DB9C}" destId="{9B2851E2-1217-3F4E-A8FC-897FC9F7ACBF}" srcOrd="1" destOrd="0" presId="urn:microsoft.com/office/officeart/2005/8/layout/pyramid1"/>
    <dgm:cxn modelId="{E448423B-1A54-8642-ACC6-D009AEF47598}" type="presParOf" srcId="{FEF1A858-7436-994D-BA25-BEA2335F6A2E}" destId="{8BBA4A21-9C60-0345-98D0-EB731A92B1FD}" srcOrd="4" destOrd="0" presId="urn:microsoft.com/office/officeart/2005/8/layout/pyramid1"/>
    <dgm:cxn modelId="{0DA00E55-EA97-8A49-9F62-FB2A3DE117F4}" type="presParOf" srcId="{8BBA4A21-9C60-0345-98D0-EB731A92B1FD}" destId="{A9F40914-851E-754C-9221-35EA83635394}" srcOrd="0" destOrd="0" presId="urn:microsoft.com/office/officeart/2005/8/layout/pyramid1"/>
    <dgm:cxn modelId="{92992DB8-D30E-4047-81E9-9DB0C71B163F}" type="presParOf" srcId="{8BBA4A21-9C60-0345-98D0-EB731A92B1FD}" destId="{92FAAF4C-7A43-2849-A01A-2C73D593DC07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D0B47C-7B6D-8548-8ABC-E1B6D47B334E}">
      <dsp:nvSpPr>
        <dsp:cNvPr id="0" name=""/>
        <dsp:cNvSpPr/>
      </dsp:nvSpPr>
      <dsp:spPr>
        <a:xfrm>
          <a:off x="2583088" y="0"/>
          <a:ext cx="1291544" cy="1170622"/>
        </a:xfrm>
        <a:prstGeom prst="trapezoid">
          <a:avLst>
            <a:gd name="adj" fmla="val 5516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2583088" y="0"/>
        <a:ext cx="1291544" cy="1170622"/>
      </dsp:txXfrm>
    </dsp:sp>
    <dsp:sp modelId="{5DA492F1-328C-0345-953B-EAC6D03E31CD}">
      <dsp:nvSpPr>
        <dsp:cNvPr id="0" name=""/>
        <dsp:cNvSpPr/>
      </dsp:nvSpPr>
      <dsp:spPr>
        <a:xfrm>
          <a:off x="1937316" y="1170622"/>
          <a:ext cx="2583088" cy="1170622"/>
        </a:xfrm>
        <a:prstGeom prst="trapezoid">
          <a:avLst>
            <a:gd name="adj" fmla="val 5516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Service</a:t>
          </a:r>
        </a:p>
      </dsp:txBody>
      <dsp:txXfrm>
        <a:off x="2389356" y="1170622"/>
        <a:ext cx="1679007" cy="1170622"/>
      </dsp:txXfrm>
    </dsp:sp>
    <dsp:sp modelId="{11698FA1-0919-3146-A99E-9D1E24D6667D}">
      <dsp:nvSpPr>
        <dsp:cNvPr id="0" name=""/>
        <dsp:cNvSpPr/>
      </dsp:nvSpPr>
      <dsp:spPr>
        <a:xfrm>
          <a:off x="1291544" y="2341245"/>
          <a:ext cx="3874632" cy="1170622"/>
        </a:xfrm>
        <a:prstGeom prst="trapezoid">
          <a:avLst>
            <a:gd name="adj" fmla="val 5516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Infrastructure</a:t>
          </a:r>
        </a:p>
      </dsp:txBody>
      <dsp:txXfrm>
        <a:off x="1969604" y="2341245"/>
        <a:ext cx="2518510" cy="1170622"/>
      </dsp:txXfrm>
    </dsp:sp>
    <dsp:sp modelId="{E75147AE-9FDC-2342-976B-31003A258864}">
      <dsp:nvSpPr>
        <dsp:cNvPr id="0" name=""/>
        <dsp:cNvSpPr/>
      </dsp:nvSpPr>
      <dsp:spPr>
        <a:xfrm>
          <a:off x="645772" y="3511867"/>
          <a:ext cx="5166176" cy="1170622"/>
        </a:xfrm>
        <a:prstGeom prst="trapezoid">
          <a:avLst>
            <a:gd name="adj" fmla="val 5516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Server</a:t>
          </a:r>
        </a:p>
      </dsp:txBody>
      <dsp:txXfrm>
        <a:off x="1549852" y="3511867"/>
        <a:ext cx="3358014" cy="1170622"/>
      </dsp:txXfrm>
    </dsp:sp>
    <dsp:sp modelId="{A9F40914-851E-754C-9221-35EA83635394}">
      <dsp:nvSpPr>
        <dsp:cNvPr id="0" name=""/>
        <dsp:cNvSpPr/>
      </dsp:nvSpPr>
      <dsp:spPr>
        <a:xfrm>
          <a:off x="0" y="4682490"/>
          <a:ext cx="6457720" cy="1170622"/>
        </a:xfrm>
        <a:prstGeom prst="trapezoid">
          <a:avLst>
            <a:gd name="adj" fmla="val 5516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Model</a:t>
          </a:r>
        </a:p>
      </dsp:txBody>
      <dsp:txXfrm>
        <a:off x="1130100" y="4682490"/>
        <a:ext cx="4197518" cy="11706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0709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with: "How many of you have helped a customer deploy an LLM on a SageMaker endpoint? How long did it take them to get their first successful inference?"</a:t>
            </a:r>
          </a:p>
          <a:p>
            <a:endParaRPr/>
          </a:p>
          <a:p>
            <a:r>
              <a:t>Set the tone: this tool was born from real customer pain, battle-tested against real platform issues.</a:t>
            </a:r>
          </a:p>
          <a:p>
            <a:endParaRPr/>
          </a:p>
          <a:p>
            <a:r>
              <a:t>Mention: open-source, AWS Labs, Apache-2.0.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isn't hypothetical. I just spent a week deploying Gemma 4 31B. Seven distinct configuration issues, each one a silent failure.</a:t>
            </a:r>
          </a:p>
          <a:p>
            <a:endParaRPr/>
          </a:p>
          <a:p>
            <a:r>
              <a:t>The customer doesn't know about RoutingConfig. They don't know vLLM v0.20.2 deprecated env vars. They don't know NCCL hangs on PCIe topologies.</a:t>
            </a:r>
          </a:p>
          <a:p>
            <a:endParaRPr/>
          </a:p>
          <a:p>
            <a:r>
              <a:t>Transition: Let me show you what those failures actually look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of these cost 1-4 hours to diagnose. A customer without deep SageMaker + vLLM expertise would be stuck for days.</a:t>
            </a:r>
          </a:p>
          <a:p>
            <a:endParaRPr/>
          </a:p>
          <a:p>
            <a:r>
              <a:t>This is why MCC exists — to encode these lessons so the next customer doesn't hit them.</a:t>
            </a:r>
          </a:p>
          <a:p>
            <a:endParaRPr/>
          </a:p>
          <a:p>
            <a:r>
              <a:t>Transition: So what does the solution look like?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Think create-react-app for ML containers.</a:t>
            </a:r>
          </a:p>
          <a:p>
            <a:endParaRPr dirty="0"/>
          </a:p>
          <a:p>
            <a:r>
              <a:rPr dirty="0"/>
              <a:t>After generation, MCC is done. Your project has zero dependency on it. You can modify any file.</a:t>
            </a:r>
          </a:p>
          <a:p>
            <a:endParaRPr dirty="0"/>
          </a:p>
          <a:p>
            <a:r>
              <a:rPr dirty="0"/>
              <a:t>Analogy: "A senior ML engineer who's deployed 100 models, writing your boilerplate for you."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MCP servers are the intelligence layer. They know that Gemma 4 31B needs TP=4 on g5.12xlarge.</a:t>
            </a:r>
          </a:p>
          <a:p>
            <a:endParaRPr/>
          </a:p>
          <a:p>
            <a:r>
              <a:t>The catalogs prevent invalid combinations at generation time, not deploy time.</a:t>
            </a:r>
          </a:p>
          <a:p>
            <a:endParaRPr/>
          </a:p>
          <a:p>
            <a:r>
              <a:t>The 8-level precedence means: CLI flags &gt; env vars &gt; config file &gt; MCP responses &gt; defaults. This enables both interactive exploration and fully automated CI/CD.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Dockerfile works across all 4 targets. The do/ scripts handle infrastructure differences.</a:t>
            </a:r>
          </a:p>
          <a:p>
            <a:endParaRPr/>
          </a:p>
          <a:p>
            <a:r>
              <a:t>15 tested combinations means 15 Dockerfiles + serve scripts that we know work.</a:t>
            </a:r>
          </a:p>
          <a:p>
            <a:endParaRPr/>
          </a:p>
          <a:p>
            <a:r>
              <a:t>Ask: "Which of these architectures are you currently using or evaluating?"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customer can rm -rf node_modules after generation. The project is fully standalone.</a:t>
            </a:r>
          </a:p>
          <a:p>
            <a:endParaRPr/>
          </a:p>
          <a:p>
            <a:r>
              <a:t>The do/ pattern is inspired by do-framework — simple, discoverable, composable.</a:t>
            </a:r>
          </a:p>
          <a:p>
            <a:endParaRPr/>
          </a:p>
          <a:p>
            <a:r>
              <a:t>Key message: these scripts encode all the SageMaker API knowledge so the customer doesn't have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Without RoutingConfig, ICs never schedule onto the endpoint. This is not documented anywhere — we discovered it through trial and error.</a:t>
            </a:r>
          </a:p>
          <a:p>
            <a:endParaRPr/>
          </a:p>
          <a:p>
            <a:r>
              <a:t>Multi-IC is the future of SageMaker endpoints. One endpoint, multiple models, independent scaling.</a:t>
            </a:r>
          </a:p>
          <a:p>
            <a:endParaRPr/>
          </a:p>
          <a:p>
            <a:r>
              <a:t>The INFERENCE_COMPONENT_NAME injection is needed because SageMaker's IC log routing is broken — our CW forwarder uses it to write to the correct log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customer can train 30 LoRA adapters for different use cases and serve them all from one endpoint.</a:t>
            </a:r>
          </a:p>
          <a:p>
            <a:endParaRPr/>
          </a:p>
          <a:p>
            <a:r>
              <a:t>No redeploy, no downtime. The adapter is loaded on the next request that references it.</a:t>
            </a:r>
          </a:p>
          <a:p>
            <a:endParaRPr/>
          </a:p>
          <a:p>
            <a:r>
              <a:t>Use case: one base model (Llama 3.1 8B) with adapters for finance, legal, code, customer support — all on one g5.2xlarge.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same benchmarking service that powers SageMaker's internal performance testing.</a:t>
            </a:r>
          </a:p>
          <a:p>
            <a:endParaRPr/>
          </a:p>
          <a:p>
            <a:r>
              <a:t>Customers can compare instance types, model versions, and serving backends with real numbers.</a:t>
            </a:r>
          </a:p>
          <a:p>
            <a:endParaRPr/>
          </a:p>
          <a:p>
            <a:r>
              <a:t>Key metrics: TTFT (time to first token) for user experience, ITL (inter-token latency) for streaming quality, throughput for cost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Validation catches the max_model_len=262K OOM before you wait 15 minutes for a deploy to fail.</a:t>
            </a:r>
          </a:p>
          <a:p>
            <a:endParaRPr/>
          </a:p>
          <a:p>
            <a:r>
              <a:t>The registry is your team's institutional memory for deployments. Six months later, someone needs to redeploy — the registry has the exact config.</a:t>
            </a:r>
          </a:p>
          <a:p>
            <a:endParaRPr/>
          </a:p>
          <a:p>
            <a:r>
              <a:t>Export as JSON, commit to git, import on any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matters most for platform teams and DevOps leads.</a:t>
            </a:r>
          </a:p>
          <a:p>
            <a:endParaRPr/>
          </a:p>
          <a:p>
            <a:r>
              <a:t>The CI harness is how we validate that vLLM v0.20.2 actually works before adding it to the catalog.</a:t>
            </a:r>
          </a:p>
          <a:p>
            <a:endParaRPr/>
          </a:p>
          <a:p>
            <a:r>
              <a:t>Scenario: ML platform team creates a config file with approved instance types. Data scientists run the generator with that config. In CI, use --skip-prompts with env vars.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MCP is the bridge between AI agents and deployment infrastructure.</a:t>
            </a:r>
          </a:p>
          <a:p>
            <a:endParaRPr/>
          </a:p>
          <a:p>
            <a:r>
              <a:t>At re:Invent 2026, imagine: "Hey Kiro, deploy this model" → MCC generates, builds, deploys, benchmarks.</a:t>
            </a:r>
          </a:p>
          <a:p>
            <a:endParaRPr/>
          </a:p>
          <a:p>
            <a:r>
              <a:t>Static mode requires zero AWS credentials — works from curated JSON catalogs shipped with the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generation + build + push live (~3 min total).</a:t>
            </a:r>
          </a:p>
          <a:p>
            <a:endParaRPr/>
          </a:p>
          <a:p>
            <a:r>
              <a:t>Switch to pre-staged endpoint for deploy/test/benchmark (saves 15 min wait).</a:t>
            </a:r>
          </a:p>
          <a:p>
            <a:endParaRPr/>
          </a:p>
          <a:p>
            <a:r>
              <a:t>Say: "Deploy takes about 15 minutes, so let me show you one I prepared earlier."</a:t>
            </a:r>
          </a:p>
          <a:p>
            <a:endParaRPr/>
          </a:p>
          <a:p>
            <a:r>
              <a:t>Key message: "4 commands from nothing to a benchmarked, adapter-ready endpoint."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the actual inference response — proves the endpoint is live.</a:t>
            </a:r>
          </a:p>
          <a:p>
            <a:endParaRPr/>
          </a:p>
          <a:p>
            <a:r>
              <a:t>Show logs flowing in real-time — this is the CW forwarder we built to work around broken IC log routing.</a:t>
            </a:r>
          </a:p>
          <a:p>
            <a:endParaRPr/>
          </a:p>
          <a:p>
            <a:r>
              <a:t>Show adapter hot-swap working — no redeploy needed.</a:t>
            </a:r>
          </a:p>
          <a:p>
            <a:endParaRPr/>
          </a:p>
          <a:p>
            <a:r>
              <a:t>If benchmark takes too long, show a previous result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one of these is a customer escalation waiting to happen.</a:t>
            </a:r>
          </a:p>
          <a:p>
            <a:endParaRPr/>
          </a:p>
          <a:p>
            <a:r>
              <a:t>MCC encodes the workarounds, but the platform should fix the root causes.</a:t>
            </a:r>
          </a:p>
          <a:p>
            <a:endParaRPr/>
          </a:p>
          <a:p>
            <a:r>
              <a:t>IC log routing is the biggest one — customers have zero visibility when things go wrong. Log groups get created but zero log streams appear.</a:t>
            </a:r>
          </a:p>
          <a:p>
            <a:endParaRPr/>
          </a:p>
          <a:p>
            <a:r>
              <a:t>Ask: "Who owns IC log routing? Can we get a ticket filed?"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aren't hacks — they're production-grade workarounds that every customer needs.</a:t>
            </a:r>
          </a:p>
          <a:p>
            <a:endParaRPr/>
          </a:p>
          <a:p>
            <a:r>
              <a:t>The CW forwarder alone has saved us dozens of hours of blind debugging.</a:t>
            </a:r>
          </a:p>
          <a:p>
            <a:endParaRPr/>
          </a:p>
          <a:p>
            <a:r>
              <a:t>The boolean flag fix: vLLM --enable-lora takes no value. Passing "true" crashes it. Our serve script handles this correctly for all boolean VLLM_ env vars.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At re:Invent 2025, we had a CLI that generated a Dockerfile and a deploy script.</a:t>
            </a:r>
          </a:p>
          <a:p>
            <a:endParaRPr/>
          </a:p>
          <a:p>
            <a:r>
              <a:t>Today we have a complete ML deployment platform in a box.</a:t>
            </a:r>
          </a:p>
          <a:p>
            <a:endParaRPr/>
          </a:p>
          <a:p>
            <a:r>
              <a:t>The velocity is real — weekly releases, 40+ specs designed and implemented.</a:t>
            </a:r>
          </a:p>
          <a:p>
            <a:endParaRPr/>
          </a:p>
          <a:p>
            <a:r>
              <a:t>Audience reaction at re:Invent: "Why doesn't this exist already?"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workshop format is strongest — hands-on, attendees leave with a deployed model.</a:t>
            </a:r>
          </a:p>
          <a:p>
            <a:endParaRPr/>
          </a:p>
          <a:p>
            <a:r>
              <a:t>The AI agent demo is the wow factor — "Hey Kiro, deploy Llama 3.1 to the cheapest instance in us-west-2."</a:t>
            </a:r>
          </a:p>
          <a:p>
            <a:endParaRPr/>
          </a:p>
          <a:p>
            <a:r>
              <a:t>We need: a session slot, a demo account with pre-provisioned capacity, and a backup plan if live deploy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We've shipped 30+ features since re:Invent 2025. The tool is actively developed.</a:t>
            </a:r>
          </a:p>
          <a:p>
            <a:endParaRPr/>
          </a:p>
          <a:p>
            <a:r>
              <a:t>Model architecture validation will catch "this model doesn't work on this server" at generation time.</a:t>
            </a:r>
          </a:p>
          <a:p>
            <a:endParaRPr/>
          </a:p>
          <a:p>
            <a:r>
              <a:t>Ask: "Which of the planned features would be most valuable for your team?"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end state is: deploying a model on SageMaker is as easy as deploying a Lambda function.</a:t>
            </a:r>
          </a:p>
          <a:p>
            <a:endParaRPr/>
          </a:p>
          <a:p>
            <a:r>
              <a:t>MCC is the bridge from today's fragile manual process to tomorrow's AI-automated deployment.</a:t>
            </a:r>
          </a:p>
          <a:p>
            <a:endParaRPr/>
          </a:p>
          <a:p>
            <a:r>
              <a:t>All three pillars need to happen in parallel. Platform fixes reduce the workarounds MCC needs. MCC maturity increases adoption. AI integration is the multiplier.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specific: "I need a name for who owns IC log routing. I need a commitment to document RoutingConfig."</a:t>
            </a:r>
          </a:p>
          <a:p>
            <a:endParaRPr/>
          </a:p>
          <a:p>
            <a:r>
              <a:t>"If you have a customer struggling with BYOC, send them to me. I'll generate their project in 5 minutes."</a:t>
            </a:r>
          </a:p>
          <a:p>
            <a:endParaRPr/>
          </a:p>
          <a:p>
            <a:r>
              <a:t>Leave time for discussion on each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Leave this slide up during Q&amp;A.</a:t>
            </a:r>
          </a:p>
          <a:p>
            <a:endParaRPr/>
          </a:p>
          <a:p>
            <a:r>
              <a:t>Common questions: security review process, multi-region deployment, cost estimation, team onboarding.</a:t>
            </a:r>
          </a:p>
          <a:p>
            <a:endParaRPr/>
          </a:p>
          <a:p>
            <a:r>
              <a:t>Offer: "I'll stay after to help anyone generate a project for their customer."</a:t>
            </a:r>
          </a:p>
          <a:p>
            <a:endParaRPr/>
          </a:p>
          <a:p>
            <a:r>
              <a:t>Reiterate: "5 minutes to try, no AWS credentials needed for local build+test."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8368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ML Container Creator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9900"/>
                </a:solidFill>
                <a:latin typeface="Calibri"/>
              </a:defRPr>
            </a:pPr>
            <a:r>
              <a:rPr dirty="0"/>
              <a:t>Eliminating the BYOC Tax for LLM Deployments on SageMaker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  <a:latin typeface="Calibri"/>
              </a:defRPr>
            </a:pPr>
            <a:r>
              <a:t>Internal Deep Dive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rPr dirty="0" err="1"/>
              <a:t>npx</a:t>
            </a:r>
            <a:r>
              <a:rPr dirty="0"/>
              <a:t> @</a:t>
            </a:r>
            <a:r>
              <a:rPr dirty="0" err="1"/>
              <a:t>aws</a:t>
            </a:r>
            <a:r>
              <a:rPr dirty="0"/>
              <a:t>/ml-container-creator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9510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rPr dirty="0"/>
              <a:t>Open Source · Apache 2.0 · </a:t>
            </a:r>
            <a:r>
              <a:rPr dirty="0" err="1"/>
              <a:t>github.com</a:t>
            </a:r>
            <a:r>
              <a:rPr dirty="0"/>
              <a:t>/</a:t>
            </a:r>
            <a:r>
              <a:rPr dirty="0" err="1"/>
              <a:t>awslabs</a:t>
            </a:r>
            <a:r>
              <a:rPr dirty="0"/>
              <a:t>/ml-container-creator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833C9D5-56C6-14E5-E544-5E66C6580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198648" cy="1143000"/>
          </a:xfrm>
        </p:spPr>
        <p:txBody>
          <a:bodyPr/>
          <a:lstStyle/>
          <a:p>
            <a:r>
              <a:rPr lang="en-US" dirty="0"/>
              <a:t>Using FMs on AWS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E6FDC72-968C-7842-033D-57E26ED3EF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1874776"/>
              </p:ext>
            </p:extLst>
          </p:nvPr>
        </p:nvGraphicFramePr>
        <p:xfrm>
          <a:off x="496676" y="1930706"/>
          <a:ext cx="11198648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4983">
                  <a:extLst>
                    <a:ext uri="{9D8B030D-6E8A-4147-A177-3AD203B41FA5}">
                      <a16:colId xmlns:a16="http://schemas.microsoft.com/office/drawing/2014/main" val="3910266134"/>
                    </a:ext>
                  </a:extLst>
                </a:gridCol>
                <a:gridCol w="2214390">
                  <a:extLst>
                    <a:ext uri="{9D8B030D-6E8A-4147-A177-3AD203B41FA5}">
                      <a16:colId xmlns:a16="http://schemas.microsoft.com/office/drawing/2014/main" val="2305212186"/>
                    </a:ext>
                  </a:extLst>
                </a:gridCol>
                <a:gridCol w="1366092">
                  <a:extLst>
                    <a:ext uri="{9D8B030D-6E8A-4147-A177-3AD203B41FA5}">
                      <a16:colId xmlns:a16="http://schemas.microsoft.com/office/drawing/2014/main" val="148004656"/>
                    </a:ext>
                  </a:extLst>
                </a:gridCol>
                <a:gridCol w="5343183">
                  <a:extLst>
                    <a:ext uri="{9D8B030D-6E8A-4147-A177-3AD203B41FA5}">
                      <a16:colId xmlns:a16="http://schemas.microsoft.com/office/drawing/2014/main" val="3311347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When to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639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Bedrock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None (managed)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Supported models, standard use cases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647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JumpStart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 </a:t>
                      </a:r>
                    </a:p>
                    <a:p>
                      <a:r>
                        <a:rPr lang="en-US" dirty="0"/>
                        <a:t>(configuration knobs)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Supported models, need endpoint control or Marketplace Licensing Agreement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874462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⬛🟨⬛🟨⬛🟨⬛🟨⬛🟨⬛🟨⬛🟨⬛🟨⬛🟨⬛🟨⬛🟨⬛🟨⬛🟨⬛🟨⬛🟨⬛🟨⬛🟨⬛🟨⬛🟨⬛🟨⬛🟨⬛🟨⬛🟨⬛🟨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076828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⚠️ Complexity cliff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406735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⬛🟨⬛🟨⬛🟨⬛🟨⬛🟨⬛🟨⬛🟨⬛🟨⬛🟨⬛🟨⬛🟨⬛🟨⬛🟨⬛🟨⬛🟨⬛🟨⬛🟨⬛🟨⬛🟨⬛🟨⬛🟨⬛🟨⬛🟨⬛🟨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090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SageMaker BYOC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 models, custom serving, specific versions, proprietary adapters,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30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HyperPod</a:t>
                      </a:r>
                      <a:r>
                        <a:rPr lang="en-US" dirty="0"/>
                        <a:t> / 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Multi-node, training + inference, K8s ecosystem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70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2103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C353-E0C0-F3AA-D239-249B8846D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4235986" cy="1162050"/>
          </a:xfrm>
        </p:spPr>
        <p:txBody>
          <a:bodyPr/>
          <a:lstStyle/>
          <a:p>
            <a:r>
              <a:rPr lang="en-US" dirty="0"/>
              <a:t>Why is there no middle ground?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0BFCCE0-A431-BB9E-4FF3-4BCC1B4C57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185979"/>
              </p:ext>
            </p:extLst>
          </p:nvPr>
        </p:nvGraphicFramePr>
        <p:xfrm>
          <a:off x="5277080" y="273050"/>
          <a:ext cx="6457720" cy="5853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2AE6B-9FDA-E1D1-1CED-1C66B85E1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4235986" cy="4691063"/>
          </a:xfrm>
        </p:spPr>
        <p:txBody>
          <a:bodyPr/>
          <a:lstStyle/>
          <a:p>
            <a:r>
              <a:rPr lang="en-US" sz="1800" dirty="0"/>
              <a:t>As soon as you begin examining how models can be deployed in a moderately more customizable way, the ecosystem explodes with complexity.</a:t>
            </a:r>
          </a:p>
          <a:p>
            <a:endParaRPr lang="en-US" sz="1800" dirty="0"/>
          </a:p>
          <a:p>
            <a:r>
              <a:rPr lang="en-US" sz="1800" dirty="0"/>
              <a:t>The choice of model has many downstream impacts to the rest of the serving architecture, including the model server, the hosting infrastructure, and other service limitations which may exist.</a:t>
            </a:r>
          </a:p>
          <a:p>
            <a:endParaRPr lang="en-US" dirty="0"/>
          </a:p>
          <a:p>
            <a:r>
              <a:rPr lang="en-US" sz="1800" dirty="0"/>
              <a:t>SageMaker and </a:t>
            </a:r>
            <a:r>
              <a:rPr lang="en-US" sz="1800" dirty="0" err="1"/>
              <a:t>HyperPod</a:t>
            </a:r>
            <a:r>
              <a:rPr lang="en-US" sz="1800" dirty="0"/>
              <a:t> too present their own deployment constraints based on the services. SageMaker deployments are API driven, while </a:t>
            </a:r>
            <a:r>
              <a:rPr lang="en-US" sz="1800" dirty="0" err="1"/>
              <a:t>HyperPod</a:t>
            </a:r>
            <a:r>
              <a:rPr lang="en-US" sz="1800" dirty="0"/>
              <a:t> is managed by the K8s ecosystem.</a:t>
            </a:r>
          </a:p>
        </p:txBody>
      </p:sp>
    </p:spTree>
    <p:extLst>
      <p:ext uri="{BB962C8B-B14F-4D97-AF65-F5344CB8AC3E}">
        <p14:creationId xmlns:p14="http://schemas.microsoft.com/office/powerpoint/2010/main" val="3705331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F3E"/>
                </a:solidFill>
                <a:latin typeface="Calibri"/>
              </a:defRPr>
            </a:pPr>
            <a:r>
              <a:t>The Customer Pain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rPr dirty="0"/>
              <a:t>Deploying an LLM on SageMaker</a:t>
            </a:r>
            <a:r>
              <a:rPr lang="en-US" dirty="0"/>
              <a:t> or </a:t>
            </a:r>
            <a:r>
              <a:rPr lang="en-US" dirty="0" err="1"/>
              <a:t>HyperPod</a:t>
            </a:r>
            <a:r>
              <a:rPr dirty="0"/>
              <a:t> requires getting </a:t>
            </a:r>
            <a:r>
              <a:rPr lang="en-US" dirty="0"/>
              <a:t>5</a:t>
            </a:r>
            <a:r>
              <a:rPr dirty="0"/>
              <a:t> layers right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11030"/>
              </p:ext>
            </p:extLst>
          </p:nvPr>
        </p:nvGraphicFramePr>
        <p:xfrm>
          <a:off x="731520" y="164592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Decisions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Failure Mode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Model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Model Hyperparameters (</a:t>
                      </a:r>
                      <a:r>
                        <a:rPr lang="en-US" dirty="0" err="1"/>
                        <a:t>max_tokens</a:t>
                      </a:r>
                      <a:r>
                        <a:rPr lang="en-US" dirty="0"/>
                        <a:t>, temperature, etc.)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Architecture not supported at some point down the line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dirty="0"/>
                        <a:t>Model </a:t>
                      </a:r>
                      <a:r>
                        <a:rPr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Server selection, version pinning, CUDA compatibility, architecture support</a:t>
                      </a:r>
                      <a:endParaRPr lang="en-US" sz="12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Incompatible versions, startup crash, silent degradation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dirty="0"/>
                        <a:t>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dirty="0"/>
                        <a:t>Instance type, GPU count, tensor parallelism</a:t>
                      </a:r>
                      <a:r>
                        <a:rPr lang="en-US" dirty="0"/>
                        <a:t>, region availability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Insufficient Capacity Error</a:t>
                      </a:r>
                    </a:p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OOM Exception</a:t>
                      </a:r>
                    </a:p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Model Server process failures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dirty="0"/>
                        <a:t>SageMaker</a:t>
                      </a:r>
                      <a:r>
                        <a:rPr lang="en-US" dirty="0"/>
                        <a:t> / </a:t>
                      </a:r>
                      <a:r>
                        <a:rPr lang="en-US" dirty="0" err="1"/>
                        <a:t>HyperPod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Endpoint configuration</a:t>
                      </a:r>
                    </a:p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Real-time/Async/Batch Inference</a:t>
                      </a:r>
                    </a:p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Infrastructure Availability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AWS API Validation Errors</a:t>
                      </a:r>
                    </a:p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IC Scheduling Failures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Ongoing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Fine-tuning or adding adapters</a:t>
                      </a:r>
                    </a:p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Multi-IC endpoints</a:t>
                      </a:r>
                    </a:p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Benchmarking</a:t>
                      </a:r>
                    </a:p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Observability/Logging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Integrate a training workflow</a:t>
                      </a:r>
                    </a:p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IC Orchestration and Scaling Concerns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08303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rPr dirty="0"/>
              <a:t>Teams spend 2-5 days on container boilerplate before testing inference.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F3E"/>
                </a:solidFill>
                <a:latin typeface="Calibri"/>
              </a:defRPr>
            </a:pPr>
            <a:r>
              <a:t>Real Issues Found Deploying One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Gemma 4 31B on SageMaker, May 2026 — 7 distinct failures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450739"/>
              </p:ext>
            </p:extLst>
          </p:nvPr>
        </p:nvGraphicFramePr>
        <p:xfrm>
          <a:off x="731520" y="164592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Symptom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--enable-lora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vLLM crash: unrecognized argument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dirty="0"/>
                        <a:t>VLLM_ENABLE_CUDA_COMPATIBILITY as CLI </a:t>
                      </a:r>
                      <a:r>
                        <a:rPr dirty="0" err="1"/>
                        <a:t>arg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Unknown argument 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Missing RoutingConfig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IC stuck in Creating forever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IC log routing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Log group created, zero log streams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max_model_len=262144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OOM on 4×24GB GPUs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NCCL on g6 (L4, PCIe)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Hang before model 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vLLM v0.20.2 env vars deprecated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dirty="0"/>
                        <a:t>Breaking change, no migration path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900"/>
                </a:solidFill>
                <a:latin typeface="Calibri"/>
              </a:defRPr>
            </a:pPr>
            <a:r>
              <a:t>Every one invisible until runtime, 15 minutes into a deploy cycle.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F3E"/>
                </a:solidFill>
                <a:latin typeface="Calibri"/>
              </a:defRPr>
            </a:pPr>
            <a:r>
              <a:t>What ML Container Creator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900"/>
                </a:solidFill>
                <a:latin typeface="Calibri"/>
              </a:defRPr>
            </a:pPr>
            <a:r>
              <a:t>A Code Generator, Not a Runtime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32F3E"/>
                </a:solidFill>
                <a:latin typeface="Calibri"/>
              </a:defRPr>
            </a:pPr>
            <a:r>
              <a:t>You provide: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4572000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•  Model name</a:t>
            </a:r>
          </a:p>
          <a:p>
            <a:pPr>
              <a:spcAft>
                <a:spcPts val="600"/>
              </a:spcAft>
              <a:defRPr sz="15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•  Serving backend (</a:t>
            </a:r>
            <a:r>
              <a:rPr sz="1600" dirty="0" err="1"/>
              <a:t>vLLM</a:t>
            </a:r>
            <a:r>
              <a:rPr sz="1600" dirty="0"/>
              <a:t>, </a:t>
            </a:r>
            <a:r>
              <a:rPr sz="1600" dirty="0" err="1"/>
              <a:t>SGLang</a:t>
            </a:r>
            <a:r>
              <a:rPr sz="1600" dirty="0"/>
              <a:t>, Triton, ...)</a:t>
            </a:r>
          </a:p>
          <a:p>
            <a:pPr>
              <a:spcAft>
                <a:spcPts val="600"/>
              </a:spcAft>
              <a:defRPr sz="15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•  Instance type</a:t>
            </a:r>
          </a:p>
          <a:p>
            <a:pPr>
              <a:spcAft>
                <a:spcPts val="600"/>
              </a:spcAft>
              <a:defRPr sz="15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•  Deployment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32F3E"/>
                </a:solidFill>
                <a:latin typeface="Calibri"/>
              </a:defRPr>
            </a:pPr>
            <a:r>
              <a:t>MCC generates: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5029200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•  </a:t>
            </a:r>
            <a:r>
              <a:rPr sz="1600" dirty="0" err="1"/>
              <a:t>Dockerfile</a:t>
            </a:r>
            <a:r>
              <a:rPr sz="1600" dirty="0"/>
              <a:t> (multi-stage, optimized)</a:t>
            </a:r>
          </a:p>
          <a:p>
            <a:pPr>
              <a:spcAft>
                <a:spcPts val="600"/>
              </a:spcAft>
              <a:defRPr sz="15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•  code/serve (</a:t>
            </a:r>
            <a:r>
              <a:rPr sz="1600" dirty="0" err="1"/>
              <a:t>entrypoint</a:t>
            </a:r>
            <a:r>
              <a:rPr sz="1600" dirty="0"/>
              <a:t> script)</a:t>
            </a:r>
          </a:p>
          <a:p>
            <a:pPr>
              <a:spcAft>
                <a:spcPts val="600"/>
              </a:spcAft>
              <a:defRPr sz="15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•  do/ lifecycle scripts (20+)</a:t>
            </a:r>
          </a:p>
          <a:p>
            <a:pPr>
              <a:spcAft>
                <a:spcPts val="600"/>
              </a:spcAft>
              <a:defRPr sz="15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•</a:t>
            </a:r>
            <a:r>
              <a:rPr lang="en-US" sz="1600" dirty="0"/>
              <a:t>  Hooks into long-tail optimizations</a:t>
            </a:r>
            <a:endParaRPr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32F3E"/>
                </a:solidFill>
                <a:latin typeface="Calibri"/>
              </a:defRPr>
            </a:pPr>
            <a:r>
              <a:t>Key principles: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058400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rPr sz="1600" dirty="0"/>
              <a:t>•  You own the output</a:t>
            </a:r>
            <a:r>
              <a:rPr lang="en-US" sz="1600" dirty="0"/>
              <a:t>, </a:t>
            </a:r>
            <a:r>
              <a:rPr sz="1600" dirty="0"/>
              <a:t>no runtime dependency on MCC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rPr sz="1600" dirty="0"/>
              <a:t>•  No agent in your container</a:t>
            </a:r>
            <a:r>
              <a:rPr lang="en-US" sz="1600" dirty="0"/>
              <a:t>, no lock-in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rPr lang="en-US" sz="1600" dirty="0"/>
              <a:t>•  Opinionated defaults, full escape hatches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rPr lang="en-US" sz="1600" dirty="0"/>
              <a:t>•  Extensible boilerplate, build on the core elements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F3E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rPr sz="1600" dirty="0"/>
              <a:t>CLI → Config Manager → Template Engine (EJS)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rPr sz="1600" dirty="0"/>
              <a:t>6 MCP Servers provide intelligent defaults: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rPr sz="1600" dirty="0"/>
              <a:t>    instance-sizer, region-picker, base-image-picker,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rPr sz="1600" dirty="0"/>
              <a:t>    model-picker, </a:t>
            </a:r>
            <a:r>
              <a:rPr sz="1600" dirty="0" err="1"/>
              <a:t>hyperpod</a:t>
            </a:r>
            <a:r>
              <a:rPr sz="1600" dirty="0"/>
              <a:t>-cluster-picker, endpoint-picker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rPr sz="1600" dirty="0"/>
              <a:t>3 Catalogs validate every combination: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rPr sz="1600" dirty="0"/>
              <a:t>    model-</a:t>
            </a:r>
            <a:r>
              <a:rPr sz="1600" dirty="0" err="1"/>
              <a:t>servers.json</a:t>
            </a:r>
            <a:r>
              <a:rPr sz="1600" dirty="0"/>
              <a:t> — 14 server versions, base images, CUDA </a:t>
            </a:r>
            <a:r>
              <a:rPr sz="1600" dirty="0" err="1"/>
              <a:t>compat</a:t>
            </a:r>
            <a:endParaRPr sz="1600" dirty="0"/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600" dirty="0" err="1"/>
              <a:t>models.json</a:t>
            </a:r>
            <a:r>
              <a:rPr sz="1600" dirty="0"/>
              <a:t> — Popular models, parameter counts, recommended instances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600" dirty="0" err="1"/>
              <a:t>instances.json</a:t>
            </a:r>
            <a:r>
              <a:rPr sz="1600" dirty="0"/>
              <a:t> — 48 types, GPU specs, memory, cost tiers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rPr sz="1600" dirty="0"/>
              <a:t>Output: Complete project with </a:t>
            </a:r>
            <a:r>
              <a:rPr sz="1600" dirty="0" err="1"/>
              <a:t>Dockerfile</a:t>
            </a:r>
            <a:r>
              <a:rPr sz="1600" dirty="0"/>
              <a:t> + code/ + do/ + tests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F3E"/>
                </a:solidFill>
                <a:latin typeface="Calibri"/>
              </a:defRPr>
            </a:pPr>
            <a:r>
              <a:t>Supported Configurations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4 Architectures × 15 Configs × 4 Targets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91220"/>
              </p:ext>
            </p:extLst>
          </p:nvPr>
        </p:nvGraphicFramePr>
        <p:xfrm>
          <a:off x="731520" y="146304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Backends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 Case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HTTP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Flask, FastAPI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Traditional ML (sklearn, XGBoost, TF)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Transformers (5)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vLLM, SGLang, TRT-LLM, LMI, DJL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LLM serving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Triton (7)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FIL, ONNX, TF, PyTorch, vLLM, TRT-LLM, 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Multi-framework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Diffusors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vLLM-Omni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dirty="0"/>
                        <a:t>Image generation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17331"/>
              </p:ext>
            </p:extLst>
          </p:nvPr>
        </p:nvGraphicFramePr>
        <p:xfrm>
          <a:off x="731520" y="4206240"/>
          <a:ext cx="1069847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Deployment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Feature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Managed 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Inference Components, multi-model, auto-scaling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Async 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S3 output, SNS notifications, large payloads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Batch Transform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S3-to-S3 bulk 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HyperPod 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dirty="0"/>
                        <a:t>Kubernetes, GPU scheduling, heterogeneous clusters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F3E"/>
                </a:solidFill>
                <a:latin typeface="Calibri"/>
              </a:defRPr>
            </a:pPr>
            <a:r>
              <a:t>The do/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20+ Lifecycle Scripts — Your Entire Deployment Workflow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080608"/>
              </p:ext>
            </p:extLst>
          </p:nvPr>
        </p:nvGraphicFramePr>
        <p:xfrm>
          <a:off x="731520" y="146304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Scripts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sz="1600" dirty="0"/>
                        <a:t>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sz="1600"/>
                        <a:t>build, run, push, submit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sz="1600"/>
                        <a:t>Container lifecycle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sz="1600"/>
                        <a:t>Deploy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sz="1600" dirty="0"/>
                        <a:t>deploy, add-</a:t>
                      </a:r>
                      <a:r>
                        <a:rPr sz="1600" dirty="0" err="1"/>
                        <a:t>ic</a:t>
                      </a:r>
                      <a:r>
                        <a:rPr sz="1600" dirty="0"/>
                        <a:t>, status, clean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sz="1600"/>
                        <a:t>SageMaker infrastructure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sz="1600"/>
                        <a:t>Observe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sz="1600" dirty="0"/>
                        <a:t>test, logs, 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sz="1600"/>
                        <a:t>Validation &amp; monitoring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sz="1600"/>
                        <a:t>Adapt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sz="1600" dirty="0"/>
                        <a:t>adapter (add/list/remove/update)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sz="1600"/>
                        <a:t>LoRA hot-swap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sz="1600"/>
                        <a:t>Operate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sz="1600" dirty="0"/>
                        <a:t>register, export, validate, optimize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sz="1600" dirty="0"/>
                        <a:t>Day-2 operations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sz="1600" dirty="0"/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sz="1600" dirty="0"/>
                        <a:t>tune, 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sz="1600"/>
                        <a:t>Fine-tuning &amp; bespoke training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sz="1600"/>
                        <a:t>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sz="1600"/>
                        <a:t>ci, manifest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rPr sz="1600" dirty="0"/>
                        <a:t>Pipeline 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Self-contained bash with shared helpers in do/lib/. No Python runtime, no npm, no MCC dependency.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F3E"/>
                </a:solidFill>
                <a:latin typeface="Calibri"/>
              </a:defRPr>
            </a:pPr>
            <a:r>
              <a:t>Inference Components + Multi-IC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IC-Based Deployment as the Default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./do/deploy          → Creates endpoint + endpoint config + inference component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./do/add-ic          → Add a second model to the same endpoint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./do/status          → Check IC health and copy 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32F3E"/>
                </a:solidFill>
                <a:latin typeface="Calibri"/>
              </a:defRPr>
            </a:pPr>
            <a:r>
              <a:t>What MCC handles automatically: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•  RoutingConfig with LEAST_OUTSTANDING_REQUESTS (required but undocumented)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•  INFERENCE_COMPONENT_NAME injection for log routing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•  GPU count allocation per IC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•  Configurable startup timeout (IC_STARTUP_TIMEOUT)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•  Container environment variable injection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F3E"/>
                </a:solidFill>
                <a:latin typeface="Calibri"/>
              </a:defRPr>
            </a:pPr>
            <a:r>
              <a:t>LoRA Adapter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Hot-Swap Adapters Without Redeploying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./do/adapter add --name=customer-finance --path=s3://bucket/adapters/finance-v2/</a:t>
            </a:r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./do/adapter list</a:t>
            </a:r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./do/adapter remove --name=customer-finance</a:t>
            </a:r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./do/adapter update --name=customer-finance --path=s3://bucket/adapters/finance-v3/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32F3E"/>
                </a:solidFill>
                <a:latin typeface="Calibri"/>
              </a:defRPr>
            </a:pPr>
            <a:r>
              <a:t>How it works: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•  vLLM --enable-lora + --max-loras=30 + --max-lora-rank=64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•  Adapters loaded at inference time via OpenAI-compatible API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•  do/adapters/ directory stores adapter configs for reproducibility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•  No redeploy, no downtime — adapter loaded on next request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F3E"/>
                </a:solidFill>
                <a:latin typeface="Calibri"/>
              </a:defRPr>
            </a:pPr>
            <a:r>
              <a:t>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do/benchmark — Powered by SageMaker AI Benchmarking (NVIDIA AIPerf)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2F3E"/>
                </a:solidFill>
                <a:latin typeface="Calibri"/>
              </a:defRPr>
            </a:pPr>
            <a:r>
              <a:t>Example output: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Request throughput:      12.4 req/s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Output token throughput: 3,720 tok/s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TTFT P50:               142ms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TTFT P99:               891ms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ITL P50:                28ms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ITL P99:                67ms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2F3E"/>
                </a:solidFill>
                <a:latin typeface="Calibri"/>
              </a:defRPr>
            </a:pPr>
            <a:r>
              <a:t>Configurable: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1031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•  Concurrency (1–100+)</a:t>
            </a:r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•  Input/output token distribution</a:t>
            </a:r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•  Streaming vs non-streaming</a:t>
            </a:r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•  Request count</a:t>
            </a:r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•  S3 output path for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2F3E"/>
                </a:solidFill>
                <a:latin typeface="Calibri"/>
              </a:defRPr>
            </a:pPr>
            <a:r>
              <a:t>Workflow: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206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Generate with --include-benchmark → ./do/deploy → ./do/benchmark → ./do/benchmark --clean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Compare instance types, model versions, and serving backends with real numbers.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F3E"/>
                </a:solidFill>
                <a:latin typeface="Calibri"/>
              </a:defRPr>
            </a:pPr>
            <a:r>
              <a:t>Validation &amp;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2F3E"/>
                </a:solidFill>
                <a:latin typeface="Calibri"/>
              </a:defRPr>
            </a:pPr>
            <a:r>
              <a:t>do/validate — Catch misconfigs before deploy: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r>
              <a:t>✅ Instance ml.g5.12xlarge has 4× A10G (24GB each)</a:t>
            </a:r>
          </a:p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r>
              <a:t>✅ Model google/gemma-4-31B-it fits with TP=4</a:t>
            </a:r>
          </a:p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r>
              <a:t>✅ vLLM v0.20.2 supports Gemma4ForConditionalGeneration</a:t>
            </a:r>
          </a:p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r>
              <a:t>❌ max_model_len=262144 exceeds available KV cache</a:t>
            </a:r>
          </a:p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r>
              <a:t>   → Recommendation: set VLLM_MAX_MODEL_LEN=16384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2F3E"/>
                </a:solidFill>
                <a:latin typeface="Calibri"/>
              </a:defRPr>
            </a:pPr>
            <a:r>
              <a:t>do/register — Capture and replay: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./do/register                              # Capture success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ml-container-creator registry replay prod  # Replay later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ml-container-creator registry export       # Share with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2F3E"/>
                </a:solidFill>
                <a:latin typeface="Calibri"/>
              </a:defRPr>
            </a:pPr>
            <a:r>
              <a:t>What gets validated: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4630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r>
              <a:t>•  GPU memory vs model size</a:t>
            </a:r>
          </a:p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r>
              <a:t>•  CUDA version compatibility</a:t>
            </a:r>
          </a:p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r>
              <a:t>•  Instance availability in region</a:t>
            </a:r>
          </a:p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r>
              <a:t>•  Model/server architecture match</a:t>
            </a:r>
          </a:p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r>
              <a:t>•  Tensor parallelism feasibility</a:t>
            </a:r>
          </a:p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r>
              <a:t>•  Context length vs available KV cache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F3E"/>
                </a:solidFill>
                <a:latin typeface="Calibri"/>
              </a:defRPr>
            </a:pPr>
            <a:r>
              <a:t>CI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From local dev to automated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2F3E"/>
                </a:solidFill>
                <a:latin typeface="Calibri"/>
              </a:defRPr>
            </a:pPr>
            <a:r>
              <a:t>Non-interactive generation: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export MCC_DEPLOYMENT_CONFIG=transformers-vllm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export MCC_MODEL_NAME=meta-llama/Llama-3.1-8B-Instruct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export MCC_INSTANCE_TYPE=ml.g5.2xlarge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ml-container-creator my-model --skip-prompts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cd my-model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./do/submit &amp;&amp; ./do/deploy &amp;&amp; ./do/test &amp;&amp; ./do/benchmark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2F3E"/>
                </a:solidFill>
                <a:latin typeface="Calibri"/>
              </a:defRPr>
            </a:pPr>
            <a:r>
              <a:t>CI Harness (bootstrap --ci):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1031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r>
              <a:t>•  CodeBuild project provisioned</a:t>
            </a:r>
          </a:p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r>
              <a:t>•  E2E validation runner</a:t>
            </a:r>
          </a:p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r>
              <a:t>•  Tests full lifecycle across configs</a:t>
            </a:r>
          </a:p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r>
              <a:t>•  Runs on every PR</a:t>
            </a:r>
          </a:p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r>
              <a:t>•  Catches regressions before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00"/>
                </a:solidFill>
                <a:latin typeface="Calibri"/>
              </a:defRPr>
            </a:pPr>
            <a:r>
              <a:t>Every parameter can be set via env var. No interactive prompts in CI.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F3E"/>
                </a:solidFill>
                <a:latin typeface="Calibri"/>
              </a:defRPr>
            </a:pPr>
            <a:r>
              <a:t>MCP Servers — The Intelligence Layer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7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Server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Knows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instance-sizer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"Gemma 4 31B needs 62GB VRAM → TP=4 on g5.12xlarge"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region-picker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"us-west-2 has g5.12xlarge quota, ap-southeast-1 doesn't"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base-image-picker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"vLLM v0.20.2 needs CUDA 12.9, use compat shim on driver 535"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model-picker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"google/gemma-4-31B-it is gated, needs HF_TOKEN"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hyperpod-cluster-picker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"Cluster ml-prod has 4 idle g5.12xlarge nodes"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endpoint-picker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"Endpoint shared-llm has capacity for another IC"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2F3E"/>
                </a:solidFill>
                <a:latin typeface="Calibri"/>
              </a:defRPr>
            </a:pPr>
            <a:r>
              <a:t>Two modes: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120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Static — Catalog data, no AWS credentials needed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Smart — Live AWS API calls for real-time availability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2F3E"/>
                </a:solidFill>
                <a:latin typeface="Calibri"/>
              </a:defRPr>
            </a:pPr>
            <a:r>
              <a:t>AI Agent Integration: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5212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Kiro + MCP servers = autonomous deployment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"Deploy Llama 3.1 to cheapest instance" → done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🔴 LIVE DEMO — Deploy from 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32F3E"/>
                </a:solidFill>
                <a:latin typeface="Calibri"/>
              </a:defRPr>
            </a:pPr>
            <a:r>
              <a:t>GPT-OSS-20B on SageMaker — from nothing to benchmarked endpoint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1. Generate the project:</a:t>
            </a:r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   ml-container-creator gpt-oss-demo --deployment-config=transformers-vllm \</a:t>
            </a:r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     --model-name=openai/gpt-oss-20b --instance-type=ml.g5.12xlarge --skip-prompts</a:t>
            </a:r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2. Show generated structure:  find . -maxdepth 2 | sort</a:t>
            </a:r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3. Build:  ./do/build     (~2 min, pulls vLLM base image)</a:t>
            </a:r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4. Push:   ./do/push      (~1 min, pushes to ECR)</a:t>
            </a:r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5. Deploy: ./do/deploy    (switch to pre-staged endpoint)</a:t>
            </a:r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6. Test + Logs + Adapter + Benchmark (next slide)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🔴 DEMO — Test + Logs + Adapter +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32F3E"/>
                </a:solidFill>
                <a:latin typeface="Calibri"/>
              </a:defRPr>
            </a:pPr>
            <a:r>
              <a:t>On the pre-staged GPT-OSS-20B endpoint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r>
              <a:t>1. Test inference:</a:t>
            </a:r>
          </a:p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r>
              <a:t>   ./do/test</a:t>
            </a:r>
          </a:p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r>
              <a:t>   → POST /v1/chat/completions → {"choices":[{"message":{"content":"Hello!..."}}]}</a:t>
            </a:r>
          </a:p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r>
              <a:t>2. Stream logs (CW forwarder in action):</a:t>
            </a:r>
          </a:p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r>
              <a:t>   ./do/logs</a:t>
            </a:r>
          </a:p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r>
              <a:t>   → Shows vLLM startup, model loading, inference requests</a:t>
            </a:r>
          </a:p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r>
              <a:t>3. Add a LoRA adapter:</a:t>
            </a:r>
          </a:p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r>
              <a:t>   ./do/adapter add --name=code-assist --path=s3://mlcc-adapters/code-assist-v1/</a:t>
            </a:r>
          </a:p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r>
              <a:t>   ./do/adapter list  → code-assist (active)</a:t>
            </a:r>
          </a:p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r>
              <a:t>4. Run benchmark:</a:t>
            </a:r>
          </a:p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r>
              <a:t>   ./do/benchmark</a:t>
            </a:r>
          </a:p>
          <a:p>
            <a:pPr>
              <a:spcAft>
                <a:spcPts val="600"/>
              </a:spcAft>
              <a:defRPr sz="1300">
                <a:solidFill>
                  <a:srgbClr val="232F3E"/>
                </a:solidFill>
                <a:latin typeface="Calibri"/>
              </a:defRPr>
            </a:pPr>
            <a:r>
              <a:t>   → Throughput, TTFT, ITL metrics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F3E"/>
                </a:solidFill>
                <a:latin typeface="Calibri"/>
              </a:defRPr>
            </a:pPr>
            <a:r>
              <a:t>Platform Paper Cuts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Issues We've Found — Opportunities to Fix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 Workaround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IC log routing broken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Zero visibility into failures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Custom cw_log_forwarder.py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RoutingConfig undocumented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ICs never schedule without it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MCC adds it automatically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CUDA compat shim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Crash on driver mismatch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cuda_compat.sh patches LD_LIBRARY_PATH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NCCL hangs on PCIe (g6/L4)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Multi-GPU models never start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NCCL_P2P_DISABLE=1 (investigating)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vLLM env var deprecation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Breaking change in v0.20.2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EXCLUDE_VARS list in serve script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Startup timeout too low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Large models fail health check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Configurable IC_STARTUP_TIMEOUT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00"/>
                </a:solidFill>
                <a:latin typeface="Calibri"/>
              </a:defRPr>
            </a:pPr>
            <a:r>
              <a:t>Every one of these is a customer escalation waiting to happen.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F3E"/>
                </a:solidFill>
                <a:latin typeface="Calibri"/>
              </a:defRPr>
            </a:pPr>
            <a:r>
              <a:t>Battle-Tested Fixes in Every Generated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  <a:latin typeface="Calibri"/>
              </a:defRPr>
            </a:pPr>
            <a:r>
              <a:t>cw_log_forwarder.py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•  Reads from stdin (piped from serve script via exec &gt;)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•  Writes to CloudWatch Logs via boto3, 1-second flush interval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•  Log group: /aws/sagemaker/InferenceComponents/&lt;IC_NAME&gt;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  <a:latin typeface="Calibri"/>
              </a:defRPr>
            </a:pPr>
            <a:r>
              <a:t>cuda_compat.sh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•  Detects driver version vs required CUDA toolkit version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•  If mismatch: adds /usr/local/cuda/compat to LD_LIBRARY_PATH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•  Bridges driver 535 → CUDA 12.9 (well-tested NVIDIA path)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  <a:latin typeface="Calibri"/>
              </a:defRPr>
            </a:pPr>
            <a:r>
              <a:t>code/serve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•  Boolean flags: true → flag only, false → skip entirely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•  EXCLUDE_VARS: internal env vars that aren't CLI args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•  Model resolution: HuggingFace, S3, or local path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F3E"/>
                </a:solidFill>
                <a:latin typeface="Calibri"/>
              </a:defRPr>
            </a:pPr>
            <a:r>
              <a:t>re:Invent 2025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900"/>
                </a:solidFill>
                <a:latin typeface="Calibri"/>
              </a:defRPr>
            </a:pPr>
            <a:r>
              <a:t>Breakout session — generated + deployed a model live on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32F3E"/>
                </a:solidFill>
                <a:latin typeface="Calibri"/>
              </a:defRPr>
            </a:pPr>
            <a:r>
              <a:rPr dirty="0"/>
              <a:t>Since then (v0.</a:t>
            </a:r>
            <a:r>
              <a:rPr lang="en-US" dirty="0"/>
              <a:t>1</a:t>
            </a:r>
            <a:r>
              <a:rPr dirty="0"/>
              <a:t>.0 → v0.</a:t>
            </a:r>
            <a:r>
              <a:rPr lang="en-US" dirty="0"/>
              <a:t>9</a:t>
            </a:r>
            <a:r>
              <a:rPr dirty="0"/>
              <a:t>.0):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✅  4 deployment targets (was 1)</a:t>
            </a:r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✅  6 MCP servers (was 0)</a:t>
            </a:r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✅  Multi-IC endpoints</a:t>
            </a:r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✅  LoRA adapter lifecycle</a:t>
            </a:r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✅  SageMaker AI Benchmarking</a:t>
            </a:r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✅  Fine-tuning (managed + bespoke)</a:t>
            </a:r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✅  Marketplace model packages</a:t>
            </a:r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✅  CI integration harness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✅  Secrets Manager integration</a:t>
            </a:r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✅  Instance quota &amp; availability</a:t>
            </a:r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✅  Schema-driven validation</a:t>
            </a:r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✅  Deployment registry</a:t>
            </a:r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✅  Post-deploy guidance</a:t>
            </a:r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✅  Yeoman removal (standalone CLI)</a:t>
            </a:r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✅  E2E validation runner</a:t>
            </a:r>
          </a:p>
          <a:p>
            <a:pPr>
              <a:spcAft>
                <a:spcPts val="600"/>
              </a:spcAft>
              <a:defRPr sz="1400">
                <a:solidFill>
                  <a:srgbClr val="232F3E"/>
                </a:solidFill>
                <a:latin typeface="Calibri"/>
              </a:defRPr>
            </a:pPr>
            <a:r>
              <a:t>✅  15 deployment configs (was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16+ major features shipped. Weekly releases. 40+ specs designed and implemented.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F3E"/>
                </a:solidFill>
                <a:latin typeface="Calibri"/>
              </a:defRPr>
            </a:pPr>
            <a:r>
              <a:t>re:Invent 2026 Potential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6984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Format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Pitch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Workshop (2hr)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"Deploy 3 models in 2 hours: LLM, diffusion, multi-model with LoRA"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Chalk Talk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"BYOC best practices: what we learned deploying 50 models"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Builder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"AI-powered deployment with MCC + Kiro + MCP"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Breakout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"From model weights to production inference in 5 minutes"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32F3E"/>
                </a:solidFill>
                <a:latin typeface="Calibri"/>
              </a:defRPr>
            </a:pPr>
            <a:r>
              <a:t>Demo scenarios: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•  "Deploy Gemma 4 in 5 minutes" (latest model, day-0 support)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•  "Multi-model endpoint with LoRA hot-swap" (cost efficiency story)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•  "AI agent deploys a model" (Kiro + MCP → fully automated)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•  "Benchmark and optimize" (data-driven instance selection)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00"/>
                </a:solidFill>
                <a:latin typeface="Calibri"/>
              </a:defRPr>
            </a:pPr>
            <a:r>
              <a:t>The narrative: MCC is the missing layer between "I have model weights" and "I have a production endpoint."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F3E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Shipped ✅ → Designed 📐 → Planned 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Model architecture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📐 Designed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Catch incompatible model/server combos at generation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E2E validation runner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📐 In progress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Automated lifecycle testing across all 15 configs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Notebook export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📐 Designed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do/export --notebook for Jupyter sharing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Cost estimation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📋 Planned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Estimated monthly cost before deploy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Multi-region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📋 Planned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Deploy same model to multiple regions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Deployment manifest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📋 Planned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Single source of truth for all config values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v1.0 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📋 Planned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Stable API, npm publish, SLA on catalog updates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30+ features shipped since re:Invent 2025. Weekly releases continue.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F3E"/>
                </a:solidFill>
                <a:latin typeface="Calibri"/>
              </a:defRPr>
            </a:pPr>
            <a: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32F3E"/>
                </a:solidFill>
                <a:latin typeface="Calibri"/>
              </a:defRPr>
            </a:pPr>
            <a:r>
              <a:t>Today: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666666"/>
                </a:solidFill>
                <a:latin typeface="Calibri"/>
              </a:defRPr>
            </a:pPr>
            <a:r>
              <a:t>•  Customer has model weights</a:t>
            </a:r>
          </a:p>
          <a:p>
            <a:pPr>
              <a:spcAft>
                <a:spcPts val="600"/>
              </a:spcAft>
              <a:defRPr sz="1500">
                <a:solidFill>
                  <a:srgbClr val="666666"/>
                </a:solidFill>
                <a:latin typeface="Calibri"/>
              </a:defRPr>
            </a:pPr>
            <a:r>
              <a:t>•  2-5 days of boilerplate + debugging</a:t>
            </a:r>
          </a:p>
          <a:p>
            <a:pPr>
              <a:spcAft>
                <a:spcPts val="600"/>
              </a:spcAft>
              <a:defRPr sz="1500">
                <a:solidFill>
                  <a:srgbClr val="666666"/>
                </a:solidFill>
                <a:latin typeface="Calibri"/>
              </a:defRPr>
            </a:pPr>
            <a:r>
              <a:t>•  Maybe works</a:t>
            </a:r>
          </a:p>
          <a:p>
            <a:pPr>
              <a:spcAft>
                <a:spcPts val="600"/>
              </a:spcAft>
              <a:defRPr sz="1500">
                <a:solidFill>
                  <a:srgbClr val="666666"/>
                </a:solidFill>
                <a:latin typeface="Calibri"/>
              </a:defRPr>
            </a:pPr>
            <a:r>
              <a:t>•  No benchmarks, no adapters, no CI</a:t>
            </a:r>
          </a:p>
          <a:p>
            <a:pPr>
              <a:spcAft>
                <a:spcPts val="600"/>
              </a:spcAft>
              <a:defRPr sz="1500">
                <a:solidFill>
                  <a:srgbClr val="666666"/>
                </a:solidFill>
                <a:latin typeface="Calibri"/>
              </a:defRPr>
            </a:pPr>
            <a:r>
              <a:t>•  Knowledge trapped in one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900"/>
                </a:solidFill>
                <a:latin typeface="Calibri"/>
              </a:defRPr>
            </a:pPr>
            <a:r>
              <a:t>Future: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•  "Hey Kiro, deploy this model"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•  MCC + MCP generates + validates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•  Deployed, tested, benchmarked in 5 min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•  Adapters, CI, registry from day 1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•  Reproducible by anyone on the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32F3E"/>
                </a:solidFill>
                <a:latin typeface="Calibri"/>
              </a:defRPr>
            </a:pPr>
            <a:r>
              <a:t>Three pillars: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1. Platform fixes — IC logging, RoutingConfig docs, NCCL → customers stop hitting these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2. MCC maturity — v1.0, npm publish, community contributions, model registry</a:t>
            </a:r>
          </a:p>
          <a:p>
            <a:pPr>
              <a:spcAft>
                <a:spcPts val="600"/>
              </a:spcAft>
              <a:defRPr sz="1500">
                <a:solidFill>
                  <a:srgbClr val="232F3E"/>
                </a:solidFill>
                <a:latin typeface="Calibri"/>
              </a:defRPr>
            </a:pPr>
            <a:r>
              <a:t>3. AI integration — MCP servers + Kiro/Q = autonomous deployment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F3E"/>
                </a:solidFill>
                <a:latin typeface="Calibri"/>
              </a:defRPr>
            </a:pPr>
            <a:r>
              <a:t>What We Need From You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Ask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Adopt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Validate with real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npx @aws/ml-container-creator — try it today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Fix platform issues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Customers hitting these daily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IC logging, RoutingConfig docs, NCCL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v1.0 needs headcount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re:Invent session slot, team allocation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Amplify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More users = more battle-testing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F3E"/>
                          </a:solidFill>
                          <a:latin typeface="Calibri"/>
                        </a:defRPr>
                      </a:pPr>
                      <a:r>
                        <a:t>Share with teams, add to SA onboarding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8368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Try It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9900"/>
                </a:solidFill>
                <a:latin typeface="Calibri"/>
              </a:defRPr>
            </a:pPr>
            <a:r>
              <a:t>npx @aws/ml-container-creator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6576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GitHub:  github.com/awslabs/ml-container-creator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Docs:    awslabs.github.io/ml-container-creator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npm:     @aws/ml-container-creator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1399</TotalTime>
  <Words>3991</Words>
  <Application>Microsoft Macintosh PowerPoint</Application>
  <PresentationFormat>Widescreen</PresentationFormat>
  <Paragraphs>574</Paragraphs>
  <Slides>25</Slides>
  <Notes>23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Using FMs on AWS</vt:lpstr>
      <vt:lpstr>Why is there no middle ground?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Ferguson, Dan</cp:lastModifiedBy>
  <cp:revision>3</cp:revision>
  <dcterms:created xsi:type="dcterms:W3CDTF">2013-01-27T09:14:16Z</dcterms:created>
  <dcterms:modified xsi:type="dcterms:W3CDTF">2026-05-21T20:41:18Z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2026-05-20T21:22:52Z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5c9442ed-ed84-4212-b746-6ec3d5b29d35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