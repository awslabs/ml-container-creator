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16" d="100"/>
          <a:sy n="116" d="100"/>
        </p:scale>
        <p:origin x="86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744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yourself and the tool in one sentence: "ML Container Creator is an open-source code generator that takes your ML model and produces a complete, deployable SageMaker container project in under a minute." Mention it's an AWS Labs project — community-driven, Apache 2.0 licensed, not a managed service.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audience: "How many of you have a Dockerfile for SageMaker that you copy-paste between projects?" — this is the pain point.</a:t>
            </a:r>
          </a:p>
          <a:p>
            <a:endParaRPr/>
          </a:p>
          <a:p>
            <a:r>
              <a:t>Emphasize that the problem isn't any single step — it's the combination of all of them, and the fact that each framework has completely different container requirements.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the "code generator" distinction. This is not like SageMaker Inference Toolkit or a framework you import. It generates plain files — Dockerfiles, Python scripts, bash scripts — that you can read, modify, and commit to your repo.</a:t>
            </a:r>
          </a:p>
          <a:p>
            <a:endParaRPr/>
          </a:p>
          <a:p>
            <a:r>
              <a:t>The generated code is starter code. We don't claim "production-ready" — we say "SageMaker-compatible."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each architecture family briefly. The key insight is that these aren't just different frameworks — they have fundamentally different container architectures:</a:t>
            </a:r>
          </a:p>
          <a:p>
            <a:r>
              <a:t>- HTTP: your code loads the model, Nginx sits in front</a:t>
            </a:r>
          </a:p>
          <a:p>
            <a:r>
              <a:t>- Transformers: the framework IS the server</a:t>
            </a:r>
          </a:p>
          <a:p>
            <a:r>
              <a:t>- Triton: NVIDIA's inference server with model repository pattern</a:t>
            </a:r>
          </a:p>
          <a:p>
            <a:endParaRPr/>
          </a:p>
          <a:p>
            <a:r>
              <a:t>Ask: "Which of these architectures are you currently using or evaluating?"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MCP simply: "These are small helper programs that the generator talks to over stdio. They answer questions like 'what instance types work well for vLLM?' and the generator uses those answers to populate your choices."</a:t>
            </a:r>
          </a:p>
          <a:p>
            <a:endParaRPr/>
          </a:p>
          <a:p>
            <a:r>
              <a:t>Static mode requires zero AWS credentials — it works from curated JSON catalogs shipped with the tool.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matters most for platform teams and DevOps leads. The interactive prompts are great for exploration, but real adoption happens when you can run this in a CI pipeline.</a:t>
            </a:r>
          </a:p>
          <a:p>
            <a:endParaRPr/>
          </a:p>
          <a:p>
            <a:r>
              <a:t>Scenario: "Your ML platform team creates a config file with approved instance types and regions. Individual data scientists run the generator with that config file. In CI, you use --skip-prompts with environment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message: the container image is the same regardless of deployment target. What changes is the deployment script and the infrastructure manifests.</a:t>
            </a:r>
          </a:p>
          <a:p>
            <a:endParaRPr/>
          </a:p>
          <a:p>
            <a:r>
              <a:t>CodeBuild is important for LLM containers that can be 10-20GB — building those locally is painful.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builds trust. Being honest about limitations makes the strengths more credible.</a:t>
            </a:r>
          </a:p>
          <a:p>
            <a:endParaRPr/>
          </a:p>
          <a:p>
            <a:r>
              <a:t>Most common objection: "why not just use JumpStart?" — the answer is control. JumpStart is great when it supports your model. MCC is for when you need to customize the container.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Gauge interest in roadmap items. If the audience is heavy on LLMs, emphasize async inference. If traditional ML, emphasize S3 model loading.</a:t>
            </a:r>
          </a:p>
          <a:p>
            <a:endParaRPr/>
          </a:p>
          <a:p>
            <a:r>
              <a:t>Invite contributions: "If any of these are critical for your team, we'd love contributions or even just detailed use cases to help prioritize."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Clear call to action: "Try generating a container for one of your existing models this week. If you hit issues, open a GitHub issue."</a:t>
            </a:r>
          </a:p>
          <a:p>
            <a:endParaRPr/>
          </a:p>
          <a:p>
            <a:r>
              <a:t>The Node.js 24+ requirement may surprise people — mention nvm for version management.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32F3E"/>
        </a:solidFill>
        <a:effectLst/>
      </p:bgPr>
    </p:bg>
    <p:spTree>
      <p:nvGrpSpPr>
        <p:cNvPr id="1" name=""/>
        <p:cNvGrpSpPr/>
        <p:nvPr/>
      </p:nvGrpSpPr>
      <p:grpSpPr>
        <a:xfrm>
          <a:off x="0" y="0"/>
          <a:ext cx="0" cy="0"/>
          <a:chOff x="0" y="0"/>
          <a:chExt cx="0" cy="0"/>
        </a:xfrm>
      </p:grpSpPr>
      <p:sp>
        <p:nvSpPr>
          <p:cNvPr id="2" name="Rectangle 1"/>
          <p:cNvSpPr/>
          <p:nvPr/>
        </p:nvSpPr>
        <p:spPr>
          <a:xfrm>
            <a:off x="0" y="658368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371600"/>
            <a:ext cx="10058400" cy="1097280"/>
          </a:xfrm>
          <a:prstGeom prst="rect">
            <a:avLst/>
          </a:prstGeom>
          <a:noFill/>
        </p:spPr>
        <p:txBody>
          <a:bodyPr wrap="square">
            <a:spAutoFit/>
          </a:bodyPr>
          <a:lstStyle/>
          <a:p>
            <a:pPr algn="ctr">
              <a:defRPr sz="4400" b="1">
                <a:solidFill>
                  <a:srgbClr val="FFFFFF"/>
                </a:solidFill>
                <a:latin typeface="Calibri"/>
              </a:defRPr>
            </a:pPr>
            <a:r>
              <a:t>ML Container Creator</a:t>
            </a:r>
          </a:p>
        </p:txBody>
      </p:sp>
      <p:sp>
        <p:nvSpPr>
          <p:cNvPr id="4" name="TextBox 3"/>
          <p:cNvSpPr txBox="1"/>
          <p:nvPr/>
        </p:nvSpPr>
        <p:spPr>
          <a:xfrm>
            <a:off x="914400" y="2560320"/>
            <a:ext cx="10058400" cy="731520"/>
          </a:xfrm>
          <a:prstGeom prst="rect">
            <a:avLst/>
          </a:prstGeom>
          <a:noFill/>
        </p:spPr>
        <p:txBody>
          <a:bodyPr wrap="square">
            <a:spAutoFit/>
          </a:bodyPr>
          <a:lstStyle/>
          <a:p>
            <a:pPr algn="ctr">
              <a:defRPr sz="2400" b="0">
                <a:solidFill>
                  <a:srgbClr val="FF9900"/>
                </a:solidFill>
                <a:latin typeface="Calibri"/>
              </a:defRPr>
            </a:pPr>
            <a:r>
              <a:rPr dirty="0"/>
              <a:t>Deploy ML models to Amazon SageMaker — in minutes, not days</a:t>
            </a:r>
          </a:p>
        </p:txBody>
      </p:sp>
      <p:sp>
        <p:nvSpPr>
          <p:cNvPr id="5" name="TextBox 4"/>
          <p:cNvSpPr txBox="1"/>
          <p:nvPr/>
        </p:nvSpPr>
        <p:spPr>
          <a:xfrm>
            <a:off x="914400" y="3840480"/>
            <a:ext cx="10058400" cy="646331"/>
          </a:xfrm>
          <a:prstGeom prst="rect">
            <a:avLst/>
          </a:prstGeom>
          <a:noFill/>
        </p:spPr>
        <p:txBody>
          <a:bodyPr wrap="square">
            <a:spAutoFit/>
          </a:bodyPr>
          <a:lstStyle/>
          <a:p>
            <a:pPr algn="ctr">
              <a:defRPr sz="1800" b="0">
                <a:solidFill>
                  <a:srgbClr val="AAAAAA"/>
                </a:solidFill>
                <a:latin typeface="Calibri"/>
              </a:defRPr>
            </a:pPr>
            <a:r>
              <a:rPr dirty="0" err="1"/>
              <a:t>npx</a:t>
            </a:r>
            <a:r>
              <a:rPr dirty="0"/>
              <a:t> @</a:t>
            </a:r>
            <a:r>
              <a:rPr dirty="0" err="1"/>
              <a:t>aws</a:t>
            </a:r>
            <a:r>
              <a:rPr dirty="0"/>
              <a:t>/generator-ml-container-creator</a:t>
            </a:r>
            <a:r>
              <a:rPr lang="en-US" dirty="0"/>
              <a:t> (TBD)</a:t>
            </a:r>
          </a:p>
          <a:p>
            <a:pPr algn="ctr">
              <a:defRPr sz="1800" b="0">
                <a:solidFill>
                  <a:srgbClr val="AAAAAA"/>
                </a:solidFill>
                <a:latin typeface="Calibri"/>
              </a:defRPr>
            </a:pPr>
            <a:r>
              <a:rPr lang="en-US" dirty="0"/>
              <a:t>git clone https://</a:t>
            </a:r>
            <a:r>
              <a:rPr lang="en-US" dirty="0" err="1"/>
              <a:t>www.github.com</a:t>
            </a:r>
            <a:r>
              <a:rPr lang="en-US" dirty="0"/>
              <a:t>/</a:t>
            </a:r>
            <a:r>
              <a:rPr lang="en-US" dirty="0" err="1"/>
              <a:t>awslabs</a:t>
            </a:r>
            <a:r>
              <a:rPr lang="en-US" dirty="0"/>
              <a:t>/ml-container-creator</a:t>
            </a:r>
            <a:endParaRPr dirty="0"/>
          </a:p>
        </p:txBody>
      </p:sp>
      <p:sp>
        <p:nvSpPr>
          <p:cNvPr id="6" name="TextBox 5"/>
          <p:cNvSpPr txBox="1"/>
          <p:nvPr/>
        </p:nvSpPr>
        <p:spPr>
          <a:xfrm>
            <a:off x="914400" y="4754880"/>
            <a:ext cx="10058400" cy="457200"/>
          </a:xfrm>
          <a:prstGeom prst="rect">
            <a:avLst/>
          </a:prstGeom>
          <a:noFill/>
        </p:spPr>
        <p:txBody>
          <a:bodyPr wrap="square">
            <a:spAutoFit/>
          </a:bodyPr>
          <a:lstStyle/>
          <a:p>
            <a:pPr algn="ctr">
              <a:defRPr sz="1400" b="0">
                <a:solidFill>
                  <a:srgbClr val="888888"/>
                </a:solidFill>
                <a:latin typeface="Calibri"/>
              </a:defRPr>
            </a:pPr>
            <a:r>
              <a:t>Open Source  ·  Apache 2.0  ·  github.com/awslabs/ml-container-creator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548640"/>
          </a:xfrm>
          <a:prstGeom prst="rect">
            <a:avLst/>
          </a:prstGeom>
          <a:noFill/>
        </p:spPr>
        <p:txBody>
          <a:bodyPr wrap="square">
            <a:spAutoFit/>
          </a:bodyPr>
          <a:lstStyle/>
          <a:p>
            <a:pPr algn="l">
              <a:defRPr sz="3200" b="1">
                <a:solidFill>
                  <a:srgbClr val="232F3E"/>
                </a:solidFill>
                <a:latin typeface="Calibri"/>
              </a:defRPr>
            </a:pPr>
            <a:r>
              <a:t>The Problem</a:t>
            </a:r>
          </a:p>
        </p:txBody>
      </p:sp>
      <p:sp>
        <p:nvSpPr>
          <p:cNvPr id="4" name="TextBox 3"/>
          <p:cNvSpPr txBox="1"/>
          <p:nvPr/>
        </p:nvSpPr>
        <p:spPr>
          <a:xfrm>
            <a:off x="731520" y="1097280"/>
            <a:ext cx="10058400" cy="548640"/>
          </a:xfrm>
          <a:prstGeom prst="rect">
            <a:avLst/>
          </a:prstGeom>
          <a:noFill/>
        </p:spPr>
        <p:txBody>
          <a:bodyPr wrap="square">
            <a:spAutoFit/>
          </a:bodyPr>
          <a:lstStyle/>
          <a:p>
            <a:pPr algn="l">
              <a:defRPr sz="2000" b="0">
                <a:solidFill>
                  <a:srgbClr val="666666"/>
                </a:solidFill>
                <a:latin typeface="Calibri"/>
              </a:defRPr>
            </a:pPr>
            <a:r>
              <a:t>Getting a model from a notebook to a SageMaker endpoint is harder than it should be.</a:t>
            </a:r>
          </a:p>
        </p:txBody>
      </p:sp>
      <p:sp>
        <p:nvSpPr>
          <p:cNvPr id="5" name="TextBox 4"/>
          <p:cNvSpPr txBox="1"/>
          <p:nvPr/>
        </p:nvSpPr>
        <p:spPr>
          <a:xfrm>
            <a:off x="731520" y="2011680"/>
            <a:ext cx="10058400" cy="3200400"/>
          </a:xfrm>
          <a:prstGeom prst="rect">
            <a:avLst/>
          </a:prstGeom>
          <a:noFill/>
        </p:spPr>
        <p:txBody>
          <a:bodyPr wrap="square">
            <a:spAutoFit/>
          </a:bodyPr>
          <a:lstStyle/>
          <a:p>
            <a:pPr>
              <a:spcAft>
                <a:spcPts val="600"/>
              </a:spcAft>
              <a:defRPr sz="1600">
                <a:solidFill>
                  <a:srgbClr val="232F3E"/>
                </a:solidFill>
                <a:latin typeface="Calibri"/>
              </a:defRPr>
            </a:pPr>
            <a:r>
              <a:t>1.  A Dockerfile meeting SageMaker BYOC requirements (port 8080, /ping, /invocations)</a:t>
            </a:r>
          </a:p>
          <a:p>
            <a:pPr>
              <a:spcAft>
                <a:spcPts val="600"/>
              </a:spcAft>
              <a:defRPr sz="1600">
                <a:solidFill>
                  <a:srgbClr val="232F3E"/>
                </a:solidFill>
                <a:latin typeface="Calibri"/>
              </a:defRPr>
            </a:pPr>
            <a:r>
              <a:t>2.  A model server choice and configuration (Flask? vLLM? Triton?)</a:t>
            </a:r>
          </a:p>
          <a:p>
            <a:pPr>
              <a:spcAft>
                <a:spcPts val="600"/>
              </a:spcAft>
              <a:defRPr sz="1600">
                <a:solidFill>
                  <a:srgbClr val="232F3E"/>
                </a:solidFill>
                <a:latin typeface="Calibri"/>
              </a:defRPr>
            </a:pPr>
            <a:r>
              <a:t>3.  Model loading and inference code</a:t>
            </a:r>
          </a:p>
          <a:p>
            <a:pPr>
              <a:spcAft>
                <a:spcPts val="600"/>
              </a:spcAft>
              <a:defRPr sz="1600">
                <a:solidFill>
                  <a:srgbClr val="232F3E"/>
                </a:solidFill>
                <a:latin typeface="Calibri"/>
              </a:defRPr>
            </a:pPr>
            <a:r>
              <a:t>4.  Deployment scripts (ECR push, endpoint creation, IAM roles)</a:t>
            </a:r>
          </a:p>
          <a:p>
            <a:pPr>
              <a:spcAft>
                <a:spcPts val="600"/>
              </a:spcAft>
              <a:defRPr sz="1600">
                <a:solidFill>
                  <a:srgbClr val="232F3E"/>
                </a:solidFill>
                <a:latin typeface="Calibri"/>
              </a:defRPr>
            </a:pPr>
            <a:r>
              <a:t>5.  Testing infrastructure (local container tests, endpoint tests)</a:t>
            </a:r>
          </a:p>
        </p:txBody>
      </p:sp>
      <p:sp>
        <p:nvSpPr>
          <p:cNvPr id="6" name="TextBox 5"/>
          <p:cNvSpPr txBox="1"/>
          <p:nvPr/>
        </p:nvSpPr>
        <p:spPr>
          <a:xfrm>
            <a:off x="731520" y="5029200"/>
            <a:ext cx="10058400" cy="457200"/>
          </a:xfrm>
          <a:prstGeom prst="rect">
            <a:avLst/>
          </a:prstGeom>
          <a:noFill/>
        </p:spPr>
        <p:txBody>
          <a:bodyPr wrap="square">
            <a:spAutoFit/>
          </a:bodyPr>
          <a:lstStyle/>
          <a:p>
            <a:pPr algn="l">
              <a:defRPr sz="1800" b="1">
                <a:solidFill>
                  <a:srgbClr val="232F3E"/>
                </a:solidFill>
                <a:latin typeface="Calibri"/>
              </a:defRPr>
            </a:pPr>
            <a:r>
              <a:t>The result:</a:t>
            </a:r>
          </a:p>
        </p:txBody>
      </p:sp>
      <p:sp>
        <p:nvSpPr>
          <p:cNvPr id="7" name="TextBox 6"/>
          <p:cNvSpPr txBox="1"/>
          <p:nvPr/>
        </p:nvSpPr>
        <p:spPr>
          <a:xfrm>
            <a:off x="731520" y="5486400"/>
            <a:ext cx="10058400" cy="1097280"/>
          </a:xfrm>
          <a:prstGeom prst="rect">
            <a:avLst/>
          </a:prstGeom>
          <a:noFill/>
        </p:spPr>
        <p:txBody>
          <a:bodyPr wrap="square">
            <a:spAutoFit/>
          </a:bodyPr>
          <a:lstStyle/>
          <a:p>
            <a:pPr>
              <a:spcAft>
                <a:spcPts val="600"/>
              </a:spcAft>
              <a:defRPr sz="1400">
                <a:solidFill>
                  <a:srgbClr val="666666"/>
                </a:solidFill>
                <a:latin typeface="Calibri"/>
              </a:defRPr>
            </a:pPr>
            <a:r>
              <a:t>•  Teams repeat this boilerplate for every model × framework × server</a:t>
            </a:r>
          </a:p>
          <a:p>
            <a:pPr>
              <a:spcAft>
                <a:spcPts val="600"/>
              </a:spcAft>
              <a:defRPr sz="1400">
                <a:solidFill>
                  <a:srgbClr val="666666"/>
                </a:solidFill>
                <a:latin typeface="Calibri"/>
              </a:defRPr>
            </a:pPr>
            <a:r>
              <a:t>•  Container misconfigurations → failed deployments, wasted GPU hours</a:t>
            </a:r>
          </a:p>
          <a:p>
            <a:pPr>
              <a:spcAft>
                <a:spcPts val="600"/>
              </a:spcAft>
              <a:defRPr sz="1400">
                <a:solidFill>
                  <a:srgbClr val="666666"/>
                </a:solidFill>
                <a:latin typeface="Calibri"/>
              </a:defRPr>
            </a:pPr>
            <a:r>
              <a:t>•  No standardization → knowledge silos across teams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548640"/>
          </a:xfrm>
          <a:prstGeom prst="rect">
            <a:avLst/>
          </a:prstGeom>
          <a:noFill/>
        </p:spPr>
        <p:txBody>
          <a:bodyPr wrap="square">
            <a:spAutoFit/>
          </a:bodyPr>
          <a:lstStyle/>
          <a:p>
            <a:pPr algn="l">
              <a:defRPr sz="3200" b="1">
                <a:solidFill>
                  <a:srgbClr val="232F3E"/>
                </a:solidFill>
                <a:latin typeface="Calibri"/>
              </a:defRPr>
            </a:pPr>
            <a:r>
              <a:t>What ML Container Creator Does</a:t>
            </a:r>
          </a:p>
        </p:txBody>
      </p:sp>
      <p:sp>
        <p:nvSpPr>
          <p:cNvPr id="4" name="TextBox 3"/>
          <p:cNvSpPr txBox="1"/>
          <p:nvPr/>
        </p:nvSpPr>
        <p:spPr>
          <a:xfrm>
            <a:off x="731520" y="1188720"/>
            <a:ext cx="10058400" cy="548640"/>
          </a:xfrm>
          <a:prstGeom prst="rect">
            <a:avLst/>
          </a:prstGeom>
          <a:noFill/>
        </p:spPr>
        <p:txBody>
          <a:bodyPr wrap="square">
            <a:spAutoFit/>
          </a:bodyPr>
          <a:lstStyle/>
          <a:p>
            <a:pPr algn="l">
              <a:defRPr sz="2200" b="1">
                <a:solidFill>
                  <a:srgbClr val="FF9900"/>
                </a:solidFill>
                <a:latin typeface="Calibri"/>
              </a:defRPr>
            </a:pPr>
            <a:r>
              <a:t>One CLI command → complete, buildable project</a:t>
            </a:r>
          </a:p>
        </p:txBody>
      </p:sp>
      <p:sp>
        <p:nvSpPr>
          <p:cNvPr id="5" name="TextBox 4"/>
          <p:cNvSpPr txBox="1"/>
          <p:nvPr/>
        </p:nvSpPr>
        <p:spPr>
          <a:xfrm>
            <a:off x="731520" y="2103120"/>
            <a:ext cx="10058400" cy="2743200"/>
          </a:xfrm>
          <a:prstGeom prst="rect">
            <a:avLst/>
          </a:prstGeom>
          <a:noFill/>
        </p:spPr>
        <p:txBody>
          <a:bodyPr wrap="square">
            <a:spAutoFit/>
          </a:bodyPr>
          <a:lstStyle/>
          <a:p>
            <a:pPr>
              <a:spcAft>
                <a:spcPts val="600"/>
              </a:spcAft>
              <a:defRPr sz="1600">
                <a:solidFill>
                  <a:srgbClr val="232F3E"/>
                </a:solidFill>
                <a:latin typeface="Calibri"/>
              </a:defRPr>
            </a:pPr>
            <a:r>
              <a:t>✅  SageMaker-compatible Dockerfile (framework-specific)</a:t>
            </a:r>
          </a:p>
          <a:p>
            <a:pPr>
              <a:spcAft>
                <a:spcPts val="600"/>
              </a:spcAft>
              <a:defRPr sz="1600">
                <a:solidFill>
                  <a:srgbClr val="232F3E"/>
                </a:solidFill>
                <a:latin typeface="Calibri"/>
              </a:defRPr>
            </a:pPr>
            <a:r>
              <a:t>✅  Model serving code (handler, server, configs)</a:t>
            </a:r>
          </a:p>
          <a:p>
            <a:pPr>
              <a:spcAft>
                <a:spcPts val="600"/>
              </a:spcAft>
              <a:defRPr sz="1600">
                <a:solidFill>
                  <a:srgbClr val="232F3E"/>
                </a:solidFill>
                <a:latin typeface="Calibri"/>
              </a:defRPr>
            </a:pPr>
            <a:r>
              <a:t>✅  Lifecycle scripts (build, push, deploy, test, clean, logs)</a:t>
            </a:r>
          </a:p>
          <a:p>
            <a:pPr>
              <a:spcAft>
                <a:spcPts val="600"/>
              </a:spcAft>
              <a:defRPr sz="1600">
                <a:solidFill>
                  <a:srgbClr val="232F3E"/>
                </a:solidFill>
                <a:latin typeface="Calibri"/>
              </a:defRPr>
            </a:pPr>
            <a:r>
              <a:t>✅  Optional sample model for immediate testing</a:t>
            </a:r>
          </a:p>
          <a:p>
            <a:pPr>
              <a:spcAft>
                <a:spcPts val="600"/>
              </a:spcAft>
              <a:defRPr sz="1600">
                <a:solidFill>
                  <a:srgbClr val="232F3E"/>
                </a:solidFill>
                <a:latin typeface="Calibri"/>
              </a:defRPr>
            </a:pPr>
            <a:r>
              <a:t>✅  Optional test suite + IAM permission reference</a:t>
            </a:r>
          </a:p>
        </p:txBody>
      </p:sp>
      <p:sp>
        <p:nvSpPr>
          <p:cNvPr id="6" name="TextBox 5"/>
          <p:cNvSpPr txBox="1"/>
          <p:nvPr/>
        </p:nvSpPr>
        <p:spPr>
          <a:xfrm>
            <a:off x="731520" y="4754880"/>
            <a:ext cx="10058400" cy="457200"/>
          </a:xfrm>
          <a:prstGeom prst="rect">
            <a:avLst/>
          </a:prstGeom>
          <a:noFill/>
        </p:spPr>
        <p:txBody>
          <a:bodyPr wrap="square">
            <a:spAutoFit/>
          </a:bodyPr>
          <a:lstStyle/>
          <a:p>
            <a:pPr algn="l">
              <a:defRPr sz="1800" b="1">
                <a:solidFill>
                  <a:srgbClr val="232F3E"/>
                </a:solidFill>
                <a:latin typeface="Calibri"/>
              </a:defRPr>
            </a:pPr>
            <a:r>
              <a:t>Key principle</a:t>
            </a:r>
          </a:p>
        </p:txBody>
      </p:sp>
      <p:sp>
        <p:nvSpPr>
          <p:cNvPr id="7" name="TextBox 6"/>
          <p:cNvSpPr txBox="1"/>
          <p:nvPr/>
        </p:nvSpPr>
        <p:spPr>
          <a:xfrm>
            <a:off x="731520" y="5212080"/>
            <a:ext cx="10058400" cy="914400"/>
          </a:xfrm>
          <a:prstGeom prst="rect">
            <a:avLst/>
          </a:prstGeom>
          <a:noFill/>
        </p:spPr>
        <p:txBody>
          <a:bodyPr wrap="square">
            <a:spAutoFit/>
          </a:bodyPr>
          <a:lstStyle/>
          <a:p>
            <a:pPr algn="l">
              <a:defRPr sz="1600" b="0">
                <a:solidFill>
                  <a:srgbClr val="666666"/>
                </a:solidFill>
                <a:latin typeface="Calibri"/>
              </a:defRPr>
            </a:pPr>
            <a:r>
              <a:t>It's a code generator, not a runtime framework.</a:t>
            </a:r>
            <a:br/>
            <a:r>
              <a:t>You own the output. No agent in your container. No lock-in.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548640"/>
          </a:xfrm>
          <a:prstGeom prst="rect">
            <a:avLst/>
          </a:prstGeom>
          <a:noFill/>
        </p:spPr>
        <p:txBody>
          <a:bodyPr wrap="square">
            <a:spAutoFit/>
          </a:bodyPr>
          <a:lstStyle/>
          <a:p>
            <a:pPr algn="l">
              <a:defRPr sz="3200" b="1">
                <a:solidFill>
                  <a:srgbClr val="232F3E"/>
                </a:solidFill>
                <a:latin typeface="Calibri"/>
              </a:defRPr>
            </a:pPr>
            <a:r>
              <a:t>Supported Architectures</a:t>
            </a: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800" b="0">
                <a:solidFill>
                  <a:srgbClr val="666666"/>
                </a:solidFill>
                <a:latin typeface="Calibri"/>
              </a:defRPr>
            </a:pPr>
            <a:r>
              <a:t>4 architecture families · 15 deployment configurations</a:t>
            </a:r>
          </a:p>
        </p:txBody>
      </p:sp>
      <p:graphicFrame>
        <p:nvGraphicFramePr>
          <p:cNvPr id="5" name="Table 4"/>
          <p:cNvGraphicFramePr>
            <a:graphicFrameLocks noGrp="1"/>
          </p:cNvGraphicFramePr>
          <p:nvPr/>
        </p:nvGraphicFramePr>
        <p:xfrm>
          <a:off x="731520" y="1645920"/>
          <a:ext cx="10698480" cy="41148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822960">
                <a:tc>
                  <a:txBody>
                    <a:bodyPr/>
                    <a:lstStyle/>
                    <a:p>
                      <a:pPr>
                        <a:defRPr sz="1300" b="1">
                          <a:solidFill>
                            <a:srgbClr val="FFFFFF"/>
                          </a:solidFill>
                          <a:latin typeface="Calibri"/>
                        </a:defRPr>
                      </a:pPr>
                      <a:r>
                        <a:t>Architecture</a:t>
                      </a:r>
                    </a:p>
                  </a:txBody>
                  <a:tcPr>
                    <a:solidFill>
                      <a:srgbClr val="232F3E"/>
                    </a:solidFill>
                  </a:tcPr>
                </a:tc>
                <a:tc>
                  <a:txBody>
                    <a:bodyPr/>
                    <a:lstStyle/>
                    <a:p>
                      <a:pPr>
                        <a:defRPr sz="1300" b="1">
                          <a:solidFill>
                            <a:srgbClr val="FFFFFF"/>
                          </a:solidFill>
                          <a:latin typeface="Calibri"/>
                        </a:defRPr>
                      </a:pPr>
                      <a:r>
                        <a:t>Deployment Configs</a:t>
                      </a:r>
                    </a:p>
                  </a:txBody>
                  <a:tcPr>
                    <a:solidFill>
                      <a:srgbClr val="232F3E"/>
                    </a:solidFill>
                  </a:tcPr>
                </a:tc>
                <a:tc>
                  <a:txBody>
                    <a:bodyPr/>
                    <a:lstStyle/>
                    <a:p>
                      <a:pPr>
                        <a:defRPr sz="1300" b="1">
                          <a:solidFill>
                            <a:srgbClr val="FFFFFF"/>
                          </a:solidFill>
                          <a:latin typeface="Calibri"/>
                        </a:defRPr>
                      </a:pPr>
                      <a:r>
                        <a:t>Use Case</a:t>
                      </a:r>
                    </a:p>
                  </a:txBody>
                  <a:tcPr>
                    <a:solidFill>
                      <a:srgbClr val="232F3E"/>
                    </a:solidFill>
                  </a:tcPr>
                </a:tc>
                <a:extLst>
                  <a:ext uri="{0D108BD9-81ED-4DB2-BD59-A6C34878D82A}">
                    <a16:rowId xmlns:a16="http://schemas.microsoft.com/office/drawing/2014/main" val="10000"/>
                  </a:ext>
                </a:extLst>
              </a:tr>
              <a:tr h="822960">
                <a:tc>
                  <a:txBody>
                    <a:bodyPr/>
                    <a:lstStyle/>
                    <a:p>
                      <a:pPr>
                        <a:defRPr sz="1200">
                          <a:solidFill>
                            <a:srgbClr val="232F3E"/>
                          </a:solidFill>
                          <a:latin typeface="Calibri"/>
                        </a:defRPr>
                      </a:pPr>
                      <a:r>
                        <a:t>HTTP (2)</a:t>
                      </a:r>
                    </a:p>
                  </a:txBody>
                  <a:tcPr/>
                </a:tc>
                <a:tc>
                  <a:txBody>
                    <a:bodyPr/>
                    <a:lstStyle/>
                    <a:p>
                      <a:pPr>
                        <a:defRPr sz="1200">
                          <a:solidFill>
                            <a:srgbClr val="232F3E"/>
                          </a:solidFill>
                          <a:latin typeface="Calibri"/>
                        </a:defRPr>
                      </a:pPr>
                      <a:r>
                        <a:t>http-flask, http-fastapi</a:t>
                      </a:r>
                    </a:p>
                  </a:txBody>
                  <a:tcPr/>
                </a:tc>
                <a:tc>
                  <a:txBody>
                    <a:bodyPr/>
                    <a:lstStyle/>
                    <a:p>
                      <a:pPr>
                        <a:defRPr sz="1200">
                          <a:solidFill>
                            <a:srgbClr val="232F3E"/>
                          </a:solidFill>
                          <a:latin typeface="Calibri"/>
                        </a:defRPr>
                      </a:pPr>
                      <a:r>
                        <a:t>Traditional ML (sklearn, XGBoost, TF) · CPU · ms latency</a:t>
                      </a:r>
                    </a:p>
                  </a:txBody>
                  <a:tcPr/>
                </a:tc>
                <a:extLst>
                  <a:ext uri="{0D108BD9-81ED-4DB2-BD59-A6C34878D82A}">
                    <a16:rowId xmlns:a16="http://schemas.microsoft.com/office/drawing/2014/main" val="10001"/>
                  </a:ext>
                </a:extLst>
              </a:tr>
              <a:tr h="822960">
                <a:tc>
                  <a:txBody>
                    <a:bodyPr/>
                    <a:lstStyle/>
                    <a:p>
                      <a:pPr>
                        <a:defRPr sz="1200">
                          <a:solidFill>
                            <a:srgbClr val="232F3E"/>
                          </a:solidFill>
                          <a:latin typeface="Calibri"/>
                        </a:defRPr>
                      </a:pPr>
                      <a:r>
                        <a:t>Transformers (5)</a:t>
                      </a:r>
                    </a:p>
                  </a:txBody>
                  <a:tcPr>
                    <a:solidFill>
                      <a:srgbClr val="F8F8F8"/>
                    </a:solidFill>
                  </a:tcPr>
                </a:tc>
                <a:tc>
                  <a:txBody>
                    <a:bodyPr/>
                    <a:lstStyle/>
                    <a:p>
                      <a:pPr>
                        <a:defRPr sz="1200">
                          <a:solidFill>
                            <a:srgbClr val="232F3E"/>
                          </a:solidFill>
                          <a:latin typeface="Calibri"/>
                        </a:defRPr>
                      </a:pPr>
                      <a:r>
                        <a:t>transformers-vllm, -sglang,</a:t>
                      </a:r>
                    </a:p>
                    <a:p>
                      <a:pPr>
                        <a:defRPr sz="1200">
                          <a:solidFill>
                            <a:srgbClr val="232F3E"/>
                          </a:solidFill>
                          <a:latin typeface="Calibri"/>
                        </a:defRPr>
                      </a:pPr>
                      <a:r>
                        <a:t>-tensorrt-llm, -lmi, -djl</a:t>
                      </a:r>
                    </a:p>
                  </a:txBody>
                  <a:tcPr>
                    <a:solidFill>
                      <a:srgbClr val="F8F8F8"/>
                    </a:solidFill>
                  </a:tcPr>
                </a:tc>
                <a:tc>
                  <a:txBody>
                    <a:bodyPr/>
                    <a:lstStyle/>
                    <a:p>
                      <a:pPr>
                        <a:defRPr sz="1200">
                          <a:solidFill>
                            <a:srgbClr val="232F3E"/>
                          </a:solidFill>
                          <a:latin typeface="Calibri"/>
                        </a:defRPr>
                      </a:pPr>
                      <a:r>
                        <a:t>LLM serving · HuggingFace · GPU · seconds latency</a:t>
                      </a:r>
                    </a:p>
                  </a:txBody>
                  <a:tcPr>
                    <a:solidFill>
                      <a:srgbClr val="F8F8F8"/>
                    </a:solidFill>
                  </a:tcPr>
                </a:tc>
                <a:extLst>
                  <a:ext uri="{0D108BD9-81ED-4DB2-BD59-A6C34878D82A}">
                    <a16:rowId xmlns:a16="http://schemas.microsoft.com/office/drawing/2014/main" val="10002"/>
                  </a:ext>
                </a:extLst>
              </a:tr>
              <a:tr h="822960">
                <a:tc>
                  <a:txBody>
                    <a:bodyPr/>
                    <a:lstStyle/>
                    <a:p>
                      <a:pPr>
                        <a:defRPr sz="1200">
                          <a:solidFill>
                            <a:srgbClr val="232F3E"/>
                          </a:solidFill>
                          <a:latin typeface="Calibri"/>
                        </a:defRPr>
                      </a:pPr>
                      <a:r>
                        <a:t>Triton (7)</a:t>
                      </a:r>
                    </a:p>
                  </a:txBody>
                  <a:tcPr/>
                </a:tc>
                <a:tc>
                  <a:txBody>
                    <a:bodyPr/>
                    <a:lstStyle/>
                    <a:p>
                      <a:pPr>
                        <a:defRPr sz="1200">
                          <a:solidFill>
                            <a:srgbClr val="232F3E"/>
                          </a:solidFill>
                          <a:latin typeface="Calibri"/>
                        </a:defRPr>
                      </a:pPr>
                      <a:r>
                        <a:t>triton-fil, -onnxruntime, -tensorflow,</a:t>
                      </a:r>
                    </a:p>
                    <a:p>
                      <a:pPr>
                        <a:defRPr sz="1200">
                          <a:solidFill>
                            <a:srgbClr val="232F3E"/>
                          </a:solidFill>
                          <a:latin typeface="Calibri"/>
                        </a:defRPr>
                      </a:pPr>
                      <a:r>
                        <a:t>-pytorch, -vllm, -tensorrtllm, -python</a:t>
                      </a:r>
                    </a:p>
                  </a:txBody>
                  <a:tcPr/>
                </a:tc>
                <a:tc>
                  <a:txBody>
                    <a:bodyPr/>
                    <a:lstStyle/>
                    <a:p>
                      <a:pPr>
                        <a:defRPr sz="1200">
                          <a:solidFill>
                            <a:srgbClr val="232F3E"/>
                          </a:solidFill>
                          <a:latin typeface="Calibri"/>
                        </a:defRPr>
                      </a:pPr>
                      <a:r>
                        <a:t>NVIDIA Triton · high-throughput · multi-model</a:t>
                      </a:r>
                    </a:p>
                  </a:txBody>
                  <a:tcPr/>
                </a:tc>
                <a:extLst>
                  <a:ext uri="{0D108BD9-81ED-4DB2-BD59-A6C34878D82A}">
                    <a16:rowId xmlns:a16="http://schemas.microsoft.com/office/drawing/2014/main" val="10003"/>
                  </a:ext>
                </a:extLst>
              </a:tr>
              <a:tr h="822960">
                <a:tc>
                  <a:txBody>
                    <a:bodyPr/>
                    <a:lstStyle/>
                    <a:p>
                      <a:pPr>
                        <a:defRPr sz="1200">
                          <a:solidFill>
                            <a:srgbClr val="232F3E"/>
                          </a:solidFill>
                          <a:latin typeface="Calibri"/>
                        </a:defRPr>
                      </a:pPr>
                      <a:r>
                        <a:t>Diffusors (1)</a:t>
                      </a:r>
                    </a:p>
                  </a:txBody>
                  <a:tcPr>
                    <a:solidFill>
                      <a:srgbClr val="F8F8F8"/>
                    </a:solidFill>
                  </a:tcPr>
                </a:tc>
                <a:tc>
                  <a:txBody>
                    <a:bodyPr/>
                    <a:lstStyle/>
                    <a:p>
                      <a:pPr>
                        <a:defRPr sz="1200">
                          <a:solidFill>
                            <a:srgbClr val="232F3E"/>
                          </a:solidFill>
                          <a:latin typeface="Calibri"/>
                        </a:defRPr>
                      </a:pPr>
                      <a:r>
                        <a:t>diffusors-vllm-omni</a:t>
                      </a:r>
                    </a:p>
                  </a:txBody>
                  <a:tcPr>
                    <a:solidFill>
                      <a:srgbClr val="F8F8F8"/>
                    </a:solidFill>
                  </a:tcPr>
                </a:tc>
                <a:tc>
                  <a:txBody>
                    <a:bodyPr/>
                    <a:lstStyle/>
                    <a:p>
                      <a:pPr>
                        <a:defRPr sz="1200">
                          <a:solidFill>
                            <a:srgbClr val="232F3E"/>
                          </a:solidFill>
                          <a:latin typeface="Calibri"/>
                        </a:defRPr>
                      </a:pPr>
                      <a:r>
                        <a:t>Image generation (SD, FLUX) · roadmap</a:t>
                      </a:r>
                    </a:p>
                  </a:txBody>
                  <a:tcPr>
                    <a:solidFill>
                      <a:srgbClr val="F8F8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548640"/>
          </a:xfrm>
          <a:prstGeom prst="rect">
            <a:avLst/>
          </a:prstGeom>
          <a:noFill/>
        </p:spPr>
        <p:txBody>
          <a:bodyPr wrap="square">
            <a:spAutoFit/>
          </a:bodyPr>
          <a:lstStyle/>
          <a:p>
            <a:pPr algn="l">
              <a:defRPr sz="3200" b="1">
                <a:solidFill>
                  <a:srgbClr val="232F3E"/>
                </a:solidFill>
                <a:latin typeface="Calibri"/>
              </a:defRPr>
            </a:pPr>
            <a:r>
              <a:t>Intelligent Defaults via MCP Servers</a:t>
            </a: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800" b="0">
                <a:solidFill>
                  <a:srgbClr val="666666"/>
                </a:solidFill>
                <a:latin typeface="Calibri"/>
              </a:defRPr>
            </a:pPr>
            <a:r>
              <a:t>5 bundled advisors that help you make better choices</a:t>
            </a:r>
          </a:p>
        </p:txBody>
      </p:sp>
      <p:graphicFrame>
        <p:nvGraphicFramePr>
          <p:cNvPr id="5" name="Table 4"/>
          <p:cNvGraphicFramePr>
            <a:graphicFrameLocks noGrp="1"/>
          </p:cNvGraphicFramePr>
          <p:nvPr/>
        </p:nvGraphicFramePr>
        <p:xfrm>
          <a:off x="731520" y="1645920"/>
          <a:ext cx="10698479" cy="27432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498079">
                  <a:extLst>
                    <a:ext uri="{9D8B030D-6E8A-4147-A177-3AD203B41FA5}">
                      <a16:colId xmlns:a16="http://schemas.microsoft.com/office/drawing/2014/main" val="20001"/>
                    </a:ext>
                  </a:extLst>
                </a:gridCol>
              </a:tblGrid>
              <a:tr h="457200">
                <a:tc>
                  <a:txBody>
                    <a:bodyPr/>
                    <a:lstStyle/>
                    <a:p>
                      <a:pPr>
                        <a:defRPr sz="1300" b="1">
                          <a:solidFill>
                            <a:srgbClr val="FFFFFF"/>
                          </a:solidFill>
                          <a:latin typeface="Calibri"/>
                        </a:defRPr>
                      </a:pPr>
                      <a:r>
                        <a:t>Server</a:t>
                      </a:r>
                    </a:p>
                  </a:txBody>
                  <a:tcPr>
                    <a:solidFill>
                      <a:srgbClr val="232F3E"/>
                    </a:solidFill>
                  </a:tcPr>
                </a:tc>
                <a:tc>
                  <a:txBody>
                    <a:bodyPr/>
                    <a:lstStyle/>
                    <a:p>
                      <a:pPr>
                        <a:defRPr sz="1300" b="1">
                          <a:solidFill>
                            <a:srgbClr val="FFFFFF"/>
                          </a:solidFill>
                          <a:latin typeface="Calibri"/>
                        </a:defRPr>
                      </a:pPr>
                      <a:r>
                        <a:t>What It Does</a:t>
                      </a:r>
                    </a:p>
                  </a:txBody>
                  <a:tcPr>
                    <a:solidFill>
                      <a:srgbClr val="232F3E"/>
                    </a:solidFill>
                  </a:tcPr>
                </a:tc>
                <a:extLst>
                  <a:ext uri="{0D108BD9-81ED-4DB2-BD59-A6C34878D82A}">
                    <a16:rowId xmlns:a16="http://schemas.microsoft.com/office/drawing/2014/main" val="10000"/>
                  </a:ext>
                </a:extLst>
              </a:tr>
              <a:tr h="457200">
                <a:tc>
                  <a:txBody>
                    <a:bodyPr/>
                    <a:lstStyle/>
                    <a:p>
                      <a:pPr>
                        <a:defRPr sz="1200">
                          <a:solidFill>
                            <a:srgbClr val="232F3E"/>
                          </a:solidFill>
                          <a:latin typeface="Calibri"/>
                        </a:defRPr>
                      </a:pPr>
                      <a:r>
                        <a:t>🖥️  Instance Recommender</a:t>
                      </a:r>
                    </a:p>
                  </a:txBody>
                  <a:tcPr/>
                </a:tc>
                <a:tc>
                  <a:txBody>
                    <a:bodyPr/>
                    <a:lstStyle/>
                    <a:p>
                      <a:pPr>
                        <a:defRPr sz="1200">
                          <a:solidFill>
                            <a:srgbClr val="232F3E"/>
                          </a:solidFill>
                          <a:latin typeface="Calibri"/>
                        </a:defRPr>
                      </a:pPr>
                      <a:r>
                        <a:t>Right-sized SageMaker instances for your framework and model</a:t>
                      </a:r>
                    </a:p>
                  </a:txBody>
                  <a:tcPr/>
                </a:tc>
                <a:extLst>
                  <a:ext uri="{0D108BD9-81ED-4DB2-BD59-A6C34878D82A}">
                    <a16:rowId xmlns:a16="http://schemas.microsoft.com/office/drawing/2014/main" val="10001"/>
                  </a:ext>
                </a:extLst>
              </a:tr>
              <a:tr h="457200">
                <a:tc>
                  <a:txBody>
                    <a:bodyPr/>
                    <a:lstStyle/>
                    <a:p>
                      <a:pPr>
                        <a:defRPr sz="1200">
                          <a:solidFill>
                            <a:srgbClr val="232F3E"/>
                          </a:solidFill>
                          <a:latin typeface="Calibri"/>
                        </a:defRPr>
                      </a:pPr>
                      <a:r>
                        <a:t>🌍  Region Picker</a:t>
                      </a:r>
                    </a:p>
                  </a:txBody>
                  <a:tcPr>
                    <a:solidFill>
                      <a:srgbClr val="F8F8F8"/>
                    </a:solidFill>
                  </a:tcPr>
                </a:tc>
                <a:tc>
                  <a:txBody>
                    <a:bodyPr/>
                    <a:lstStyle/>
                    <a:p>
                      <a:pPr>
                        <a:defRPr sz="1200">
                          <a:solidFill>
                            <a:srgbClr val="232F3E"/>
                          </a:solidFill>
                          <a:latin typeface="Calibri"/>
                        </a:defRPr>
                      </a:pPr>
                      <a:r>
                        <a:t>Filter AWS regions by availability and proximity</a:t>
                      </a:r>
                    </a:p>
                  </a:txBody>
                  <a:tcPr>
                    <a:solidFill>
                      <a:srgbClr val="F8F8F8"/>
                    </a:solidFill>
                  </a:tcPr>
                </a:tc>
                <a:extLst>
                  <a:ext uri="{0D108BD9-81ED-4DB2-BD59-A6C34878D82A}">
                    <a16:rowId xmlns:a16="http://schemas.microsoft.com/office/drawing/2014/main" val="10002"/>
                  </a:ext>
                </a:extLst>
              </a:tr>
              <a:tr h="457200">
                <a:tc>
                  <a:txBody>
                    <a:bodyPr/>
                    <a:lstStyle/>
                    <a:p>
                      <a:pPr>
                        <a:defRPr sz="1200">
                          <a:solidFill>
                            <a:srgbClr val="232F3E"/>
                          </a:solidFill>
                          <a:latin typeface="Calibri"/>
                        </a:defRPr>
                      </a:pPr>
                      <a:r>
                        <a:t>📦  Base Image Picker</a:t>
                      </a:r>
                    </a:p>
                  </a:txBody>
                  <a:tcPr/>
                </a:tc>
                <a:tc>
                  <a:txBody>
                    <a:bodyPr/>
                    <a:lstStyle/>
                    <a:p>
                      <a:pPr>
                        <a:defRPr sz="1200">
                          <a:solidFill>
                            <a:srgbClr val="232F3E"/>
                          </a:solidFill>
                          <a:latin typeface="Calibri"/>
                        </a:defRPr>
                      </a:pPr>
                      <a:r>
                        <a:t>Curated, versioned container images per framework</a:t>
                      </a:r>
                    </a:p>
                  </a:txBody>
                  <a:tcPr/>
                </a:tc>
                <a:extLst>
                  <a:ext uri="{0D108BD9-81ED-4DB2-BD59-A6C34878D82A}">
                    <a16:rowId xmlns:a16="http://schemas.microsoft.com/office/drawing/2014/main" val="10003"/>
                  </a:ext>
                </a:extLst>
              </a:tr>
              <a:tr h="457200">
                <a:tc>
                  <a:txBody>
                    <a:bodyPr/>
                    <a:lstStyle/>
                    <a:p>
                      <a:pPr>
                        <a:defRPr sz="1200">
                          <a:solidFill>
                            <a:srgbClr val="232F3E"/>
                          </a:solidFill>
                          <a:latin typeface="Calibri"/>
                        </a:defRPr>
                      </a:pPr>
                      <a:r>
                        <a:t>☸️  HyperPod Cluster Picker</a:t>
                      </a:r>
                    </a:p>
                  </a:txBody>
                  <a:tcPr>
                    <a:solidFill>
                      <a:srgbClr val="F8F8F8"/>
                    </a:solidFill>
                  </a:tcPr>
                </a:tc>
                <a:tc>
                  <a:txBody>
                    <a:bodyPr/>
                    <a:lstStyle/>
                    <a:p>
                      <a:pPr>
                        <a:defRPr sz="1200">
                          <a:solidFill>
                            <a:srgbClr val="232F3E"/>
                          </a:solidFill>
                          <a:latin typeface="Calibri"/>
                        </a:defRPr>
                      </a:pPr>
                      <a:r>
                        <a:t>Discover existing HyperPod EKS clusters via AWS API</a:t>
                      </a:r>
                    </a:p>
                  </a:txBody>
                  <a:tcPr>
                    <a:solidFill>
                      <a:srgbClr val="F8F8F8"/>
                    </a:solidFill>
                  </a:tcPr>
                </a:tc>
                <a:extLst>
                  <a:ext uri="{0D108BD9-81ED-4DB2-BD59-A6C34878D82A}">
                    <a16:rowId xmlns:a16="http://schemas.microsoft.com/office/drawing/2014/main" val="10004"/>
                  </a:ext>
                </a:extLst>
              </a:tr>
              <a:tr h="457200">
                <a:tc>
                  <a:txBody>
                    <a:bodyPr/>
                    <a:lstStyle/>
                    <a:p>
                      <a:pPr>
                        <a:defRPr sz="1200">
                          <a:solidFill>
                            <a:srgbClr val="232F3E"/>
                          </a:solidFill>
                          <a:latin typeface="Calibri"/>
                        </a:defRPr>
                      </a:pPr>
                      <a:r>
                        <a:t>🤖  Model Picker</a:t>
                      </a:r>
                    </a:p>
                  </a:txBody>
                  <a:tcPr/>
                </a:tc>
                <a:tc>
                  <a:txBody>
                    <a:bodyPr/>
                    <a:lstStyle/>
                    <a:p>
                      <a:pPr>
                        <a:defRPr sz="1200">
                          <a:solidFill>
                            <a:srgbClr val="232F3E"/>
                          </a:solidFill>
                          <a:latin typeface="Calibri"/>
                        </a:defRPr>
                      </a:pPr>
                      <a:r>
                        <a:t>Resolve HuggingFace model metadata (architecture, gated status)</a:t>
                      </a:r>
                    </a:p>
                  </a:txBody>
                  <a:tcPr/>
                </a:tc>
                <a:extLst>
                  <a:ext uri="{0D108BD9-81ED-4DB2-BD59-A6C34878D82A}">
                    <a16:rowId xmlns:a16="http://schemas.microsoft.com/office/drawing/2014/main" val="10005"/>
                  </a:ext>
                </a:extLst>
              </a:tr>
            </a:tbl>
          </a:graphicData>
        </a:graphic>
      </p:graphicFrame>
      <p:sp>
        <p:nvSpPr>
          <p:cNvPr id="6" name="TextBox 5"/>
          <p:cNvSpPr txBox="1"/>
          <p:nvPr/>
        </p:nvSpPr>
        <p:spPr>
          <a:xfrm>
            <a:off x="731520" y="4846320"/>
            <a:ext cx="10058400" cy="1371600"/>
          </a:xfrm>
          <a:prstGeom prst="rect">
            <a:avLst/>
          </a:prstGeom>
          <a:noFill/>
        </p:spPr>
        <p:txBody>
          <a:bodyPr wrap="square">
            <a:spAutoFit/>
          </a:bodyPr>
          <a:lstStyle/>
          <a:p>
            <a:pPr>
              <a:spcAft>
                <a:spcPts val="600"/>
              </a:spcAft>
              <a:defRPr sz="1400">
                <a:solidFill>
                  <a:srgbClr val="666666"/>
                </a:solidFill>
                <a:latin typeface="Calibri"/>
              </a:defRPr>
            </a:pPr>
            <a:r>
              <a:t>Static mode (default) — instant responses from curated catalogs, no AWS credentials needed</a:t>
            </a:r>
          </a:p>
          <a:p>
            <a:pPr>
              <a:spcAft>
                <a:spcPts val="600"/>
              </a:spcAft>
              <a:defRPr sz="1400">
                <a:solidFill>
                  <a:srgbClr val="666666"/>
                </a:solidFill>
                <a:latin typeface="Calibri"/>
              </a:defRPr>
            </a:pPr>
            <a:r>
              <a:t>Smart mode (opt-in) — Amazon Bedrock-powered context-aware recommendations</a:t>
            </a:r>
          </a:p>
          <a:p>
            <a:pPr>
              <a:spcAft>
                <a:spcPts val="600"/>
              </a:spcAft>
              <a:defRPr sz="1400">
                <a:solidFill>
                  <a:srgbClr val="666666"/>
                </a:solidFill>
                <a:latin typeface="Calibri"/>
              </a:defRPr>
            </a:pPr>
            <a:r>
              <a:t>MCP servers are configuration providers, not AI agents. No LLM in the loop unless you opt in.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548640"/>
          </a:xfrm>
          <a:prstGeom prst="rect">
            <a:avLst/>
          </a:prstGeom>
          <a:noFill/>
        </p:spPr>
        <p:txBody>
          <a:bodyPr wrap="square">
            <a:spAutoFit/>
          </a:bodyPr>
          <a:lstStyle/>
          <a:p>
            <a:pPr algn="l">
              <a:defRPr sz="3200" b="1">
                <a:solidFill>
                  <a:srgbClr val="232F3E"/>
                </a:solidFill>
                <a:latin typeface="Calibri"/>
              </a:defRPr>
            </a:pPr>
            <a:r>
              <a:t>Configuration for CI/CD</a:t>
            </a: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800" b="0">
                <a:solidFill>
                  <a:srgbClr val="666666"/>
                </a:solidFill>
                <a:latin typeface="Calibri"/>
              </a:defRPr>
            </a:pPr>
            <a:r>
              <a:t>8-level precedence — prompts are the last resort</a:t>
            </a:r>
          </a:p>
        </p:txBody>
      </p:sp>
      <p:sp>
        <p:nvSpPr>
          <p:cNvPr id="5" name="TextBox 4"/>
          <p:cNvSpPr txBox="1"/>
          <p:nvPr/>
        </p:nvSpPr>
        <p:spPr>
          <a:xfrm>
            <a:off x="731520" y="1645920"/>
            <a:ext cx="5029200" cy="2286000"/>
          </a:xfrm>
          <a:prstGeom prst="rect">
            <a:avLst/>
          </a:prstGeom>
          <a:noFill/>
        </p:spPr>
        <p:txBody>
          <a:bodyPr wrap="square">
            <a:spAutoFit/>
          </a:bodyPr>
          <a:lstStyle/>
          <a:p>
            <a:pPr>
              <a:spcAft>
                <a:spcPts val="600"/>
              </a:spcAft>
              <a:defRPr sz="1300">
                <a:solidFill>
                  <a:srgbClr val="232F3E"/>
                </a:solidFill>
                <a:latin typeface="Calibri"/>
              </a:defRPr>
            </a:pPr>
            <a:r>
              <a:t>CLI Options (highest priority)</a:t>
            </a:r>
          </a:p>
          <a:p>
            <a:pPr>
              <a:spcAft>
                <a:spcPts val="600"/>
              </a:spcAft>
              <a:defRPr sz="1300">
                <a:solidFill>
                  <a:srgbClr val="232F3E"/>
                </a:solidFill>
                <a:latin typeface="Calibri"/>
              </a:defRPr>
            </a:pPr>
            <a:r>
              <a:t>  → CLI Arguments</a:t>
            </a:r>
          </a:p>
          <a:p>
            <a:pPr>
              <a:spcAft>
                <a:spcPts val="600"/>
              </a:spcAft>
              <a:defRPr sz="1300">
                <a:solidFill>
                  <a:srgbClr val="232F3E"/>
                </a:solidFill>
                <a:latin typeface="Calibri"/>
              </a:defRPr>
            </a:pPr>
            <a:r>
              <a:t>    → Environment Variables</a:t>
            </a:r>
          </a:p>
          <a:p>
            <a:pPr>
              <a:spcAft>
                <a:spcPts val="600"/>
              </a:spcAft>
              <a:defRPr sz="1300">
                <a:solidFill>
                  <a:srgbClr val="232F3E"/>
                </a:solidFill>
                <a:latin typeface="Calibri"/>
              </a:defRPr>
            </a:pPr>
            <a:r>
              <a:t>      → CLI Config File (--config)</a:t>
            </a:r>
          </a:p>
          <a:p>
            <a:pPr>
              <a:spcAft>
                <a:spcPts val="600"/>
              </a:spcAft>
              <a:defRPr sz="1300">
                <a:solidFill>
                  <a:srgbClr val="232F3E"/>
                </a:solidFill>
                <a:latin typeface="Calibri"/>
              </a:defRPr>
            </a:pPr>
            <a:r>
              <a:t>        → Custom Config File</a:t>
            </a:r>
          </a:p>
          <a:p>
            <a:pPr>
              <a:spcAft>
                <a:spcPts val="600"/>
              </a:spcAft>
              <a:defRPr sz="1300">
                <a:solidFill>
                  <a:srgbClr val="232F3E"/>
                </a:solidFill>
                <a:latin typeface="Calibri"/>
              </a:defRPr>
            </a:pPr>
            <a:r>
              <a:t>          → Package.json section</a:t>
            </a:r>
          </a:p>
          <a:p>
            <a:pPr>
              <a:spcAft>
                <a:spcPts val="600"/>
              </a:spcAft>
              <a:defRPr sz="1300">
                <a:solidFill>
                  <a:srgbClr val="232F3E"/>
                </a:solidFill>
                <a:latin typeface="Calibri"/>
              </a:defRPr>
            </a:pPr>
            <a:r>
              <a:t>            → Generator Defaults</a:t>
            </a:r>
          </a:p>
          <a:p>
            <a:pPr>
              <a:spcAft>
                <a:spcPts val="600"/>
              </a:spcAft>
              <a:defRPr sz="1300">
                <a:solidFill>
                  <a:srgbClr val="232F3E"/>
                </a:solidFill>
                <a:latin typeface="Calibri"/>
              </a:defRPr>
            </a:pPr>
            <a:r>
              <a:t>              → Interactive Prompts (lowest)</a:t>
            </a:r>
          </a:p>
        </p:txBody>
      </p:sp>
      <p:sp>
        <p:nvSpPr>
          <p:cNvPr id="6" name="TextBox 5"/>
          <p:cNvSpPr txBox="1"/>
          <p:nvPr/>
        </p:nvSpPr>
        <p:spPr>
          <a:xfrm>
            <a:off x="6400800" y="1645920"/>
            <a:ext cx="5029200" cy="365760"/>
          </a:xfrm>
          <a:prstGeom prst="rect">
            <a:avLst/>
          </a:prstGeom>
          <a:noFill/>
        </p:spPr>
        <p:txBody>
          <a:bodyPr wrap="square">
            <a:spAutoFit/>
          </a:bodyPr>
          <a:lstStyle/>
          <a:p>
            <a:pPr algn="l">
              <a:defRPr sz="1400" b="1">
                <a:solidFill>
                  <a:srgbClr val="232F3E"/>
                </a:solidFill>
                <a:latin typeface="Calibri"/>
              </a:defRPr>
            </a:pPr>
            <a:r>
              <a:t>Fully automated:</a:t>
            </a:r>
          </a:p>
        </p:txBody>
      </p:sp>
      <p:sp>
        <p:nvSpPr>
          <p:cNvPr id="7" name="TextBox 6"/>
          <p:cNvSpPr txBox="1"/>
          <p:nvPr/>
        </p:nvSpPr>
        <p:spPr>
          <a:xfrm>
            <a:off x="6400800" y="2103120"/>
            <a:ext cx="5029200" cy="1828800"/>
          </a:xfrm>
          <a:prstGeom prst="rect">
            <a:avLst/>
          </a:prstGeom>
          <a:noFill/>
        </p:spPr>
        <p:txBody>
          <a:bodyPr wrap="square">
            <a:spAutoFit/>
          </a:bodyPr>
          <a:lstStyle/>
          <a:p>
            <a:pPr>
              <a:spcAft>
                <a:spcPts val="600"/>
              </a:spcAft>
              <a:defRPr sz="1200">
                <a:solidFill>
                  <a:srgbClr val="666666"/>
                </a:solidFill>
                <a:latin typeface="Calibri"/>
              </a:defRPr>
            </a:pPr>
            <a:r>
              <a:t>yo @aws/ml-container-creator \</a:t>
            </a:r>
          </a:p>
          <a:p>
            <a:pPr>
              <a:spcAft>
                <a:spcPts val="600"/>
              </a:spcAft>
              <a:defRPr sz="1200">
                <a:solidFill>
                  <a:srgbClr val="666666"/>
                </a:solidFill>
                <a:latin typeface="Calibri"/>
              </a:defRPr>
            </a:pPr>
            <a:r>
              <a:t>  --skip-prompts \</a:t>
            </a:r>
          </a:p>
          <a:p>
            <a:pPr>
              <a:spcAft>
                <a:spcPts val="600"/>
              </a:spcAft>
              <a:defRPr sz="1200">
                <a:solidFill>
                  <a:srgbClr val="666666"/>
                </a:solidFill>
                <a:latin typeface="Calibri"/>
              </a:defRPr>
            </a:pPr>
            <a:r>
              <a:t>  --deployment-config=transformers-vllm \</a:t>
            </a:r>
          </a:p>
          <a:p>
            <a:pPr>
              <a:spcAft>
                <a:spcPts val="600"/>
              </a:spcAft>
              <a:defRPr sz="1200">
                <a:solidFill>
                  <a:srgbClr val="666666"/>
                </a:solidFill>
                <a:latin typeface="Calibri"/>
              </a:defRPr>
            </a:pPr>
            <a:r>
              <a:t>  --model-name=meta-llama/Llama-2-7b-chat-hf \</a:t>
            </a:r>
          </a:p>
          <a:p>
            <a:pPr>
              <a:spcAft>
                <a:spcPts val="600"/>
              </a:spcAft>
              <a:defRPr sz="1200">
                <a:solidFill>
                  <a:srgbClr val="666666"/>
                </a:solidFill>
                <a:latin typeface="Calibri"/>
              </a:defRPr>
            </a:pPr>
            <a:r>
              <a:t>  --instance-type=ml.g5.xlarge</a:t>
            </a:r>
          </a:p>
        </p:txBody>
      </p:sp>
      <p:sp>
        <p:nvSpPr>
          <p:cNvPr id="8" name="TextBox 7"/>
          <p:cNvSpPr txBox="1"/>
          <p:nvPr/>
        </p:nvSpPr>
        <p:spPr>
          <a:xfrm>
            <a:off x="6400800" y="4114800"/>
            <a:ext cx="5029200" cy="365760"/>
          </a:xfrm>
          <a:prstGeom prst="rect">
            <a:avLst/>
          </a:prstGeom>
          <a:noFill/>
        </p:spPr>
        <p:txBody>
          <a:bodyPr wrap="square">
            <a:spAutoFit/>
          </a:bodyPr>
          <a:lstStyle/>
          <a:p>
            <a:pPr algn="l">
              <a:defRPr sz="1400" b="1">
                <a:solidFill>
                  <a:srgbClr val="232F3E"/>
                </a:solidFill>
                <a:latin typeface="Calibri"/>
              </a:defRPr>
            </a:pPr>
            <a:r>
              <a:t>Environment variables:</a:t>
            </a:r>
          </a:p>
        </p:txBody>
      </p:sp>
      <p:sp>
        <p:nvSpPr>
          <p:cNvPr id="9" name="TextBox 8"/>
          <p:cNvSpPr txBox="1"/>
          <p:nvPr/>
        </p:nvSpPr>
        <p:spPr>
          <a:xfrm>
            <a:off x="6400800" y="4480560"/>
            <a:ext cx="5029200" cy="1371600"/>
          </a:xfrm>
          <a:prstGeom prst="rect">
            <a:avLst/>
          </a:prstGeom>
          <a:noFill/>
        </p:spPr>
        <p:txBody>
          <a:bodyPr wrap="square">
            <a:spAutoFit/>
          </a:bodyPr>
          <a:lstStyle/>
          <a:p>
            <a:pPr>
              <a:spcAft>
                <a:spcPts val="600"/>
              </a:spcAft>
              <a:defRPr sz="1200">
                <a:solidFill>
                  <a:srgbClr val="666666"/>
                </a:solidFill>
                <a:latin typeface="Calibri"/>
              </a:defRPr>
            </a:pPr>
            <a:r>
              <a:t>ML_INSTANCE_TYPE=ml.g5.xlarge</a:t>
            </a:r>
          </a:p>
          <a:p>
            <a:pPr>
              <a:spcAft>
                <a:spcPts val="600"/>
              </a:spcAft>
              <a:defRPr sz="1200">
                <a:solidFill>
                  <a:srgbClr val="666666"/>
                </a:solidFill>
                <a:latin typeface="Calibri"/>
              </a:defRPr>
            </a:pPr>
            <a:r>
              <a:t>AWS_REGION=us-east-1</a:t>
            </a:r>
          </a:p>
          <a:p>
            <a:pPr>
              <a:spcAft>
                <a:spcPts val="600"/>
              </a:spcAft>
              <a:defRPr sz="1200">
                <a:solidFill>
                  <a:srgbClr val="666666"/>
                </a:solidFill>
                <a:latin typeface="Calibri"/>
              </a:defRPr>
            </a:pPr>
            <a:r>
              <a:t>AWS_ROLE=arn:aws:iam::...:role/SageMakerRole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548640"/>
          </a:xfrm>
          <a:prstGeom prst="rect">
            <a:avLst/>
          </a:prstGeom>
          <a:noFill/>
        </p:spPr>
        <p:txBody>
          <a:bodyPr wrap="square">
            <a:spAutoFit/>
          </a:bodyPr>
          <a:lstStyle/>
          <a:p>
            <a:pPr algn="l">
              <a:defRPr sz="3200" b="1">
                <a:solidFill>
                  <a:srgbClr val="232F3E"/>
                </a:solidFill>
                <a:latin typeface="Calibri"/>
              </a:defRPr>
            </a:pPr>
            <a:r>
              <a:t>Deployment Targets</a:t>
            </a:r>
          </a:p>
        </p:txBody>
      </p:sp>
      <p:sp>
        <p:nvSpPr>
          <p:cNvPr id="4" name="TextBox 3"/>
          <p:cNvSpPr txBox="1"/>
          <p:nvPr/>
        </p:nvSpPr>
        <p:spPr>
          <a:xfrm>
            <a:off x="731520" y="1005840"/>
            <a:ext cx="10058400" cy="365760"/>
          </a:xfrm>
          <a:prstGeom prst="rect">
            <a:avLst/>
          </a:prstGeom>
          <a:noFill/>
        </p:spPr>
        <p:txBody>
          <a:bodyPr wrap="square">
            <a:spAutoFit/>
          </a:bodyPr>
          <a:lstStyle/>
          <a:p>
            <a:pPr algn="l">
              <a:defRPr sz="1800" b="0">
                <a:solidFill>
                  <a:srgbClr val="666666"/>
                </a:solidFill>
                <a:latin typeface="Calibri"/>
              </a:defRPr>
            </a:pPr>
            <a:r>
              <a:t>Same container, multiple deployment paths</a:t>
            </a:r>
          </a:p>
        </p:txBody>
      </p:sp>
      <p:sp>
        <p:nvSpPr>
          <p:cNvPr id="5" name="TextBox 4"/>
          <p:cNvSpPr txBox="1"/>
          <p:nvPr/>
        </p:nvSpPr>
        <p:spPr>
          <a:xfrm>
            <a:off x="731520" y="1645920"/>
            <a:ext cx="5029200" cy="365760"/>
          </a:xfrm>
          <a:prstGeom prst="rect">
            <a:avLst/>
          </a:prstGeom>
          <a:noFill/>
        </p:spPr>
        <p:txBody>
          <a:bodyPr wrap="square">
            <a:spAutoFit/>
          </a:bodyPr>
          <a:lstStyle/>
          <a:p>
            <a:pPr algn="l">
              <a:defRPr sz="1800" b="1">
                <a:solidFill>
                  <a:srgbClr val="FF9900"/>
                </a:solidFill>
                <a:latin typeface="Calibri"/>
              </a:defRPr>
            </a:pPr>
            <a:r>
              <a:t>SageMaker Managed Inference</a:t>
            </a:r>
          </a:p>
        </p:txBody>
      </p:sp>
      <p:sp>
        <p:nvSpPr>
          <p:cNvPr id="6" name="TextBox 5"/>
          <p:cNvSpPr txBox="1"/>
          <p:nvPr/>
        </p:nvSpPr>
        <p:spPr>
          <a:xfrm>
            <a:off x="731520" y="2194560"/>
            <a:ext cx="5029200" cy="2286000"/>
          </a:xfrm>
          <a:prstGeom prst="rect">
            <a:avLst/>
          </a:prstGeom>
          <a:noFill/>
        </p:spPr>
        <p:txBody>
          <a:bodyPr wrap="square">
            <a:spAutoFit/>
          </a:bodyPr>
          <a:lstStyle/>
          <a:p>
            <a:pPr>
              <a:spcAft>
                <a:spcPts val="600"/>
              </a:spcAft>
              <a:defRPr sz="1400">
                <a:solidFill>
                  <a:srgbClr val="232F3E"/>
                </a:solidFill>
                <a:latin typeface="Calibri"/>
              </a:defRPr>
            </a:pPr>
            <a:r>
              <a:t>•  Real-time endpoints via Inference Components API</a:t>
            </a:r>
          </a:p>
          <a:p>
            <a:pPr>
              <a:spcAft>
                <a:spcPts val="600"/>
              </a:spcAft>
              <a:defRPr sz="1400">
                <a:solidFill>
                  <a:srgbClr val="232F3E"/>
                </a:solidFill>
                <a:latin typeface="Calibri"/>
              </a:defRPr>
            </a:pPr>
            <a:r>
              <a:t>•  ./do/deploy &lt;role-arn&gt;</a:t>
            </a:r>
          </a:p>
          <a:p>
            <a:pPr>
              <a:spcAft>
                <a:spcPts val="600"/>
              </a:spcAft>
              <a:defRPr sz="1400">
                <a:solidFill>
                  <a:srgbClr val="232F3E"/>
                </a:solidFill>
                <a:latin typeface="Calibri"/>
              </a:defRPr>
            </a:pPr>
            <a:r>
              <a:t>•  ./do/test &lt;endpoint-name&gt;</a:t>
            </a:r>
          </a:p>
          <a:p>
            <a:pPr>
              <a:spcAft>
                <a:spcPts val="600"/>
              </a:spcAft>
              <a:defRPr sz="1400">
                <a:solidFill>
                  <a:srgbClr val="232F3E"/>
                </a:solidFill>
                <a:latin typeface="Calibri"/>
              </a:defRPr>
            </a:pPr>
            <a:r>
              <a:t>•  ./do/logs → CloudWatch tailing</a:t>
            </a:r>
          </a:p>
          <a:p>
            <a:pPr>
              <a:spcAft>
                <a:spcPts val="600"/>
              </a:spcAft>
              <a:defRPr sz="1400">
                <a:solidFill>
                  <a:srgbClr val="232F3E"/>
                </a:solidFill>
                <a:latin typeface="Calibri"/>
              </a:defRPr>
            </a:pPr>
            <a:r>
              <a:t>•  ./do/clean endpoint → tear down</a:t>
            </a:r>
          </a:p>
        </p:txBody>
      </p:sp>
      <p:sp>
        <p:nvSpPr>
          <p:cNvPr id="7" name="TextBox 6"/>
          <p:cNvSpPr txBox="1"/>
          <p:nvPr/>
        </p:nvSpPr>
        <p:spPr>
          <a:xfrm>
            <a:off x="6400800" y="1645920"/>
            <a:ext cx="5029200" cy="365760"/>
          </a:xfrm>
          <a:prstGeom prst="rect">
            <a:avLst/>
          </a:prstGeom>
          <a:noFill/>
        </p:spPr>
        <p:txBody>
          <a:bodyPr wrap="square">
            <a:spAutoFit/>
          </a:bodyPr>
          <a:lstStyle/>
          <a:p>
            <a:pPr algn="l">
              <a:defRPr sz="1800" b="1">
                <a:solidFill>
                  <a:srgbClr val="FF9900"/>
                </a:solidFill>
                <a:latin typeface="Calibri"/>
              </a:defRPr>
            </a:pPr>
            <a:r>
              <a:t>SageMaker HyperPod EKS</a:t>
            </a:r>
          </a:p>
        </p:txBody>
      </p:sp>
      <p:sp>
        <p:nvSpPr>
          <p:cNvPr id="8" name="TextBox 7"/>
          <p:cNvSpPr txBox="1"/>
          <p:nvPr/>
        </p:nvSpPr>
        <p:spPr>
          <a:xfrm>
            <a:off x="6400800" y="2194560"/>
            <a:ext cx="5029200" cy="2286000"/>
          </a:xfrm>
          <a:prstGeom prst="rect">
            <a:avLst/>
          </a:prstGeom>
          <a:noFill/>
        </p:spPr>
        <p:txBody>
          <a:bodyPr wrap="square">
            <a:spAutoFit/>
          </a:bodyPr>
          <a:lstStyle/>
          <a:p>
            <a:pPr>
              <a:spcAft>
                <a:spcPts val="600"/>
              </a:spcAft>
              <a:defRPr sz="1400">
                <a:solidFill>
                  <a:srgbClr val="232F3E"/>
                </a:solidFill>
                <a:latin typeface="Calibri"/>
              </a:defRPr>
            </a:pPr>
            <a:r>
              <a:t>•  K8s manifests: Deployment, Service, ConfigMap, PVC</a:t>
            </a:r>
          </a:p>
          <a:p>
            <a:pPr>
              <a:spcAft>
                <a:spcPts val="600"/>
              </a:spcAft>
              <a:defRPr sz="1400">
                <a:solidFill>
                  <a:srgbClr val="232F3E"/>
                </a:solidFill>
                <a:latin typeface="Calibri"/>
              </a:defRPr>
            </a:pPr>
            <a:r>
              <a:t>•  ./do/deploy → kubectl apply</a:t>
            </a:r>
          </a:p>
          <a:p>
            <a:pPr>
              <a:spcAft>
                <a:spcPts val="600"/>
              </a:spcAft>
              <a:defRPr sz="1400">
                <a:solidFill>
                  <a:srgbClr val="232F3E"/>
                </a:solidFill>
                <a:latin typeface="Calibri"/>
              </a:defRPr>
            </a:pPr>
            <a:r>
              <a:t>•  FSx for Lustre volume support</a:t>
            </a:r>
          </a:p>
          <a:p>
            <a:pPr>
              <a:spcAft>
                <a:spcPts val="600"/>
              </a:spcAft>
              <a:defRPr sz="1400">
                <a:solidFill>
                  <a:srgbClr val="232F3E"/>
                </a:solidFill>
                <a:latin typeface="Calibri"/>
              </a:defRPr>
            </a:pPr>
            <a:r>
              <a:t>•  Cluster discovery via MCP server</a:t>
            </a:r>
          </a:p>
          <a:p>
            <a:pPr>
              <a:spcAft>
                <a:spcPts val="600"/>
              </a:spcAft>
              <a:defRPr sz="1400">
                <a:solidFill>
                  <a:srgbClr val="232F3E"/>
                </a:solidFill>
                <a:latin typeface="Calibri"/>
              </a:defRPr>
            </a:pPr>
            <a:r>
              <a:t>•  Same container image as managed inference</a:t>
            </a:r>
          </a:p>
        </p:txBody>
      </p:sp>
      <p:sp>
        <p:nvSpPr>
          <p:cNvPr id="9" name="TextBox 8"/>
          <p:cNvSpPr txBox="1"/>
          <p:nvPr/>
        </p:nvSpPr>
        <p:spPr>
          <a:xfrm>
            <a:off x="731520" y="4754880"/>
            <a:ext cx="10058400" cy="365760"/>
          </a:xfrm>
          <a:prstGeom prst="rect">
            <a:avLst/>
          </a:prstGeom>
          <a:noFill/>
        </p:spPr>
        <p:txBody>
          <a:bodyPr wrap="square">
            <a:spAutoFit/>
          </a:bodyPr>
          <a:lstStyle/>
          <a:p>
            <a:pPr algn="l">
              <a:defRPr sz="1800" b="1">
                <a:solidFill>
                  <a:srgbClr val="FF9900"/>
                </a:solidFill>
                <a:latin typeface="Calibri"/>
              </a:defRPr>
            </a:pPr>
            <a:r>
              <a:t>Build Targets</a:t>
            </a:r>
          </a:p>
        </p:txBody>
      </p:sp>
      <p:sp>
        <p:nvSpPr>
          <p:cNvPr id="10" name="TextBox 9"/>
          <p:cNvSpPr txBox="1"/>
          <p:nvPr/>
        </p:nvSpPr>
        <p:spPr>
          <a:xfrm>
            <a:off x="731520" y="5212080"/>
            <a:ext cx="10058400" cy="914400"/>
          </a:xfrm>
          <a:prstGeom prst="rect">
            <a:avLst/>
          </a:prstGeom>
          <a:noFill/>
        </p:spPr>
        <p:txBody>
          <a:bodyPr wrap="square">
            <a:spAutoFit/>
          </a:bodyPr>
          <a:lstStyle/>
          <a:p>
            <a:pPr>
              <a:spcAft>
                <a:spcPts val="600"/>
              </a:spcAft>
              <a:defRPr sz="1400">
                <a:solidFill>
                  <a:srgbClr val="232F3E"/>
                </a:solidFill>
                <a:latin typeface="Calibri"/>
              </a:defRPr>
            </a:pPr>
            <a:r>
              <a:t>Local — ./do/build + ./do/push (Docker on your machine)</a:t>
            </a:r>
          </a:p>
          <a:p>
            <a:pPr>
              <a:spcAft>
                <a:spcPts val="600"/>
              </a:spcAft>
              <a:defRPr sz="1400">
                <a:solidFill>
                  <a:srgbClr val="232F3E"/>
                </a:solidFill>
                <a:latin typeface="Calibri"/>
              </a:defRPr>
            </a:pPr>
            <a:r>
              <a:t>CodeBuild — ./do/submit (cloud-based build, no local Docker needed — critical for 10-20GB LLM containers)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548640"/>
          </a:xfrm>
          <a:prstGeom prst="rect">
            <a:avLst/>
          </a:prstGeom>
          <a:noFill/>
        </p:spPr>
        <p:txBody>
          <a:bodyPr wrap="square">
            <a:spAutoFit/>
          </a:bodyPr>
          <a:lstStyle/>
          <a:p>
            <a:pPr algn="l">
              <a:defRPr sz="3200" b="1">
                <a:solidFill>
                  <a:srgbClr val="232F3E"/>
                </a:solidFill>
                <a:latin typeface="Calibri"/>
              </a:defRPr>
            </a:pPr>
            <a:r>
              <a:t>What It's Not</a:t>
            </a:r>
          </a:p>
        </p:txBody>
      </p:sp>
      <p:graphicFrame>
        <p:nvGraphicFramePr>
          <p:cNvPr id="4" name="Table 3"/>
          <p:cNvGraphicFramePr>
            <a:graphicFrameLocks noGrp="1"/>
          </p:cNvGraphicFramePr>
          <p:nvPr/>
        </p:nvGraphicFramePr>
        <p:xfrm>
          <a:off x="731520" y="1188720"/>
          <a:ext cx="10698480" cy="228600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5349240">
                  <a:extLst>
                    <a:ext uri="{9D8B030D-6E8A-4147-A177-3AD203B41FA5}">
                      <a16:colId xmlns:a16="http://schemas.microsoft.com/office/drawing/2014/main" val="20001"/>
                    </a:ext>
                  </a:extLst>
                </a:gridCol>
              </a:tblGrid>
              <a:tr h="381000">
                <a:tc>
                  <a:txBody>
                    <a:bodyPr/>
                    <a:lstStyle/>
                    <a:p>
                      <a:pPr>
                        <a:defRPr sz="1300" b="1">
                          <a:solidFill>
                            <a:srgbClr val="FFFFFF"/>
                          </a:solidFill>
                          <a:latin typeface="Calibri"/>
                        </a:defRPr>
                      </a:pPr>
                      <a:r>
                        <a:t>✅ It Is</a:t>
                      </a:r>
                    </a:p>
                  </a:txBody>
                  <a:tcPr>
                    <a:solidFill>
                      <a:srgbClr val="232F3E"/>
                    </a:solidFill>
                  </a:tcPr>
                </a:tc>
                <a:tc>
                  <a:txBody>
                    <a:bodyPr/>
                    <a:lstStyle/>
                    <a:p>
                      <a:pPr>
                        <a:defRPr sz="1300" b="1">
                          <a:solidFill>
                            <a:srgbClr val="FFFFFF"/>
                          </a:solidFill>
                          <a:latin typeface="Calibri"/>
                        </a:defRPr>
                      </a:pPr>
                      <a:r>
                        <a:t>❌ It Is Not</a:t>
                      </a:r>
                    </a:p>
                  </a:txBody>
                  <a:tcPr>
                    <a:solidFill>
                      <a:srgbClr val="232F3E"/>
                    </a:solidFill>
                  </a:tcPr>
                </a:tc>
                <a:extLst>
                  <a:ext uri="{0D108BD9-81ED-4DB2-BD59-A6C34878D82A}">
                    <a16:rowId xmlns:a16="http://schemas.microsoft.com/office/drawing/2014/main" val="10000"/>
                  </a:ext>
                </a:extLst>
              </a:tr>
              <a:tr h="381000">
                <a:tc>
                  <a:txBody>
                    <a:bodyPr/>
                    <a:lstStyle/>
                    <a:p>
                      <a:pPr>
                        <a:defRPr sz="1200">
                          <a:solidFill>
                            <a:srgbClr val="232F3E"/>
                          </a:solidFill>
                          <a:latin typeface="Calibri"/>
                        </a:defRPr>
                      </a:pPr>
                      <a:r>
                        <a:t>A code generator</a:t>
                      </a:r>
                    </a:p>
                  </a:txBody>
                  <a:tcPr/>
                </a:tc>
                <a:tc>
                  <a:txBody>
                    <a:bodyPr/>
                    <a:lstStyle/>
                    <a:p>
                      <a:pPr>
                        <a:defRPr sz="1200">
                          <a:solidFill>
                            <a:srgbClr val="232F3E"/>
                          </a:solidFill>
                          <a:latin typeface="Calibri"/>
                        </a:defRPr>
                      </a:pPr>
                      <a:r>
                        <a:t>A managed service</a:t>
                      </a:r>
                    </a:p>
                  </a:txBody>
                  <a:tcPr/>
                </a:tc>
                <a:extLst>
                  <a:ext uri="{0D108BD9-81ED-4DB2-BD59-A6C34878D82A}">
                    <a16:rowId xmlns:a16="http://schemas.microsoft.com/office/drawing/2014/main" val="10001"/>
                  </a:ext>
                </a:extLst>
              </a:tr>
              <a:tr h="381000">
                <a:tc>
                  <a:txBody>
                    <a:bodyPr/>
                    <a:lstStyle/>
                    <a:p>
                      <a:pPr>
                        <a:defRPr sz="1200">
                          <a:solidFill>
                            <a:srgbClr val="232F3E"/>
                          </a:solidFill>
                          <a:latin typeface="Calibri"/>
                        </a:defRPr>
                      </a:pPr>
                      <a:r>
                        <a:t>Starter code you own and modify</a:t>
                      </a:r>
                    </a:p>
                  </a:txBody>
                  <a:tcPr>
                    <a:solidFill>
                      <a:srgbClr val="F8F8F8"/>
                    </a:solidFill>
                  </a:tcPr>
                </a:tc>
                <a:tc>
                  <a:txBody>
                    <a:bodyPr/>
                    <a:lstStyle/>
                    <a:p>
                      <a:pPr>
                        <a:defRPr sz="1200">
                          <a:solidFill>
                            <a:srgbClr val="232F3E"/>
                          </a:solidFill>
                          <a:latin typeface="Calibri"/>
                        </a:defRPr>
                      </a:pPr>
                      <a:r>
                        <a:t>Production-ready without review</a:t>
                      </a:r>
                    </a:p>
                  </a:txBody>
                  <a:tcPr>
                    <a:solidFill>
                      <a:srgbClr val="F8F8F8"/>
                    </a:solidFill>
                  </a:tcPr>
                </a:tc>
                <a:extLst>
                  <a:ext uri="{0D108BD9-81ED-4DB2-BD59-A6C34878D82A}">
                    <a16:rowId xmlns:a16="http://schemas.microsoft.com/office/drawing/2014/main" val="10002"/>
                  </a:ext>
                </a:extLst>
              </a:tr>
              <a:tr h="381000">
                <a:tc>
                  <a:txBody>
                    <a:bodyPr/>
                    <a:lstStyle/>
                    <a:p>
                      <a:pPr>
                        <a:defRPr sz="1200">
                          <a:solidFill>
                            <a:srgbClr val="232F3E"/>
                          </a:solidFill>
                          <a:latin typeface="Calibri"/>
                        </a:defRPr>
                      </a:pPr>
                      <a:r>
                        <a:t>SageMaker BYOC tooling</a:t>
                      </a:r>
                    </a:p>
                  </a:txBody>
                  <a:tcPr/>
                </a:tc>
                <a:tc>
                  <a:txBody>
                    <a:bodyPr/>
                    <a:lstStyle/>
                    <a:p>
                      <a:pPr>
                        <a:defRPr sz="1200">
                          <a:solidFill>
                            <a:srgbClr val="232F3E"/>
                          </a:solidFill>
                          <a:latin typeface="Calibri"/>
                        </a:defRPr>
                      </a:pPr>
                      <a:r>
                        <a:t>A replacement for JumpStart</a:t>
                      </a:r>
                    </a:p>
                  </a:txBody>
                  <a:tcPr/>
                </a:tc>
                <a:extLst>
                  <a:ext uri="{0D108BD9-81ED-4DB2-BD59-A6C34878D82A}">
                    <a16:rowId xmlns:a16="http://schemas.microsoft.com/office/drawing/2014/main" val="10003"/>
                  </a:ext>
                </a:extLst>
              </a:tr>
              <a:tr h="381000">
                <a:tc>
                  <a:txBody>
                    <a:bodyPr/>
                    <a:lstStyle/>
                    <a:p>
                      <a:pPr>
                        <a:defRPr sz="1200">
                          <a:solidFill>
                            <a:srgbClr val="232F3E"/>
                          </a:solidFill>
                          <a:latin typeface="Calibri"/>
                        </a:defRPr>
                      </a:pPr>
                      <a:r>
                        <a:t>Framework-agnostic scaffolding</a:t>
                      </a:r>
                    </a:p>
                  </a:txBody>
                  <a:tcPr>
                    <a:solidFill>
                      <a:srgbClr val="F8F8F8"/>
                    </a:solidFill>
                  </a:tcPr>
                </a:tc>
                <a:tc>
                  <a:txBody>
                    <a:bodyPr/>
                    <a:lstStyle/>
                    <a:p>
                      <a:pPr>
                        <a:defRPr sz="1200">
                          <a:solidFill>
                            <a:srgbClr val="232F3E"/>
                          </a:solidFill>
                          <a:latin typeface="Calibri"/>
                        </a:defRPr>
                      </a:pPr>
                      <a:r>
                        <a:t>A runtime framework (no lock-in)</a:t>
                      </a:r>
                    </a:p>
                  </a:txBody>
                  <a:tcPr>
                    <a:solidFill>
                      <a:srgbClr val="F8F8F8"/>
                    </a:solidFill>
                  </a:tcPr>
                </a:tc>
                <a:extLst>
                  <a:ext uri="{0D108BD9-81ED-4DB2-BD59-A6C34878D82A}">
                    <a16:rowId xmlns:a16="http://schemas.microsoft.com/office/drawing/2014/main" val="10004"/>
                  </a:ext>
                </a:extLst>
              </a:tr>
              <a:tr h="381000">
                <a:tc>
                  <a:txBody>
                    <a:bodyPr/>
                    <a:lstStyle/>
                    <a:p>
                      <a:pPr>
                        <a:defRPr sz="1200">
                          <a:solidFill>
                            <a:srgbClr val="232F3E"/>
                          </a:solidFill>
                          <a:latin typeface="Calibri"/>
                        </a:defRPr>
                      </a:pPr>
                      <a:r>
                        <a:t>Open source (Apache 2.0)</a:t>
                      </a:r>
                    </a:p>
                  </a:txBody>
                  <a:tcPr/>
                </a:tc>
                <a:tc>
                  <a:txBody>
                    <a:bodyPr/>
                    <a:lstStyle/>
                    <a:p>
                      <a:pPr>
                        <a:defRPr sz="1200">
                          <a:solidFill>
                            <a:srgbClr val="232F3E"/>
                          </a:solidFill>
                          <a:latin typeface="Calibri"/>
                        </a:defRPr>
                      </a:pPr>
                      <a:r>
                        <a:t>An AWS service with SLA</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731520" y="4114800"/>
            <a:ext cx="10058400" cy="365760"/>
          </a:xfrm>
          <a:prstGeom prst="rect">
            <a:avLst/>
          </a:prstGeom>
          <a:noFill/>
        </p:spPr>
        <p:txBody>
          <a:bodyPr wrap="square">
            <a:spAutoFit/>
          </a:bodyPr>
          <a:lstStyle/>
          <a:p>
            <a:pPr algn="l">
              <a:defRPr sz="1800" b="1">
                <a:solidFill>
                  <a:srgbClr val="232F3E"/>
                </a:solidFill>
                <a:latin typeface="Calibri"/>
              </a:defRPr>
            </a:pPr>
            <a:r>
              <a:t>When to use something else:</a:t>
            </a:r>
          </a:p>
        </p:txBody>
      </p:sp>
      <p:sp>
        <p:nvSpPr>
          <p:cNvPr id="6" name="TextBox 5"/>
          <p:cNvSpPr txBox="1"/>
          <p:nvPr/>
        </p:nvSpPr>
        <p:spPr>
          <a:xfrm>
            <a:off x="731520" y="4572000"/>
            <a:ext cx="10058400" cy="1828800"/>
          </a:xfrm>
          <a:prstGeom prst="rect">
            <a:avLst/>
          </a:prstGeom>
          <a:noFill/>
        </p:spPr>
        <p:txBody>
          <a:bodyPr wrap="square">
            <a:spAutoFit/>
          </a:bodyPr>
          <a:lstStyle/>
          <a:p>
            <a:pPr>
              <a:spcAft>
                <a:spcPts val="600"/>
              </a:spcAft>
              <a:defRPr sz="1500">
                <a:solidFill>
                  <a:srgbClr val="232F3E"/>
                </a:solidFill>
                <a:latin typeface="Calibri"/>
              </a:defRPr>
            </a:pPr>
            <a:r>
              <a:t>•  Model supported by built-in algorithms → use those</a:t>
            </a:r>
          </a:p>
          <a:p>
            <a:pPr>
              <a:spcAft>
                <a:spcPts val="600"/>
              </a:spcAft>
              <a:defRPr sz="1500">
                <a:solidFill>
                  <a:srgbClr val="232F3E"/>
                </a:solidFill>
                <a:latin typeface="Calibri"/>
              </a:defRPr>
            </a:pPr>
            <a:r>
              <a:t>•  Want one-click deployment of a popular model → use JumpStart</a:t>
            </a:r>
          </a:p>
          <a:p>
            <a:pPr>
              <a:spcAft>
                <a:spcPts val="600"/>
              </a:spcAft>
              <a:defRPr sz="1500">
                <a:solidFill>
                  <a:srgbClr val="232F3E"/>
                </a:solidFill>
                <a:latin typeface="Calibri"/>
              </a:defRPr>
            </a:pPr>
            <a:r>
              <a:t>•  Need managed MLOps pipeline → use SageMaker Pipelines</a:t>
            </a:r>
          </a:p>
          <a:p>
            <a:pPr>
              <a:spcAft>
                <a:spcPts val="600"/>
              </a:spcAft>
              <a:defRPr sz="1500">
                <a:solidFill>
                  <a:srgbClr val="232F3E"/>
                </a:solidFill>
                <a:latin typeface="Calibri"/>
              </a:defRPr>
            </a:pPr>
            <a:r>
              <a:t>•  Need full container control, custom serving, unsupported frameworks → use MCC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10058400" cy="548640"/>
          </a:xfrm>
          <a:prstGeom prst="rect">
            <a:avLst/>
          </a:prstGeom>
          <a:noFill/>
        </p:spPr>
        <p:txBody>
          <a:bodyPr wrap="square">
            <a:spAutoFit/>
          </a:bodyPr>
          <a:lstStyle/>
          <a:p>
            <a:pPr algn="l">
              <a:defRPr sz="3200" b="1">
                <a:solidFill>
                  <a:srgbClr val="232F3E"/>
                </a:solidFill>
                <a:latin typeface="Calibri"/>
              </a:defRPr>
            </a:pPr>
            <a:r>
              <a:t>Roadmap</a:t>
            </a:r>
          </a:p>
        </p:txBody>
      </p:sp>
      <p:graphicFrame>
        <p:nvGraphicFramePr>
          <p:cNvPr id="4" name="Table 3"/>
          <p:cNvGraphicFramePr>
            <a:graphicFrameLocks noGrp="1"/>
          </p:cNvGraphicFramePr>
          <p:nvPr/>
        </p:nvGraphicFramePr>
        <p:xfrm>
          <a:off x="731520" y="1188720"/>
          <a:ext cx="10698480" cy="36576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522514">
                <a:tc>
                  <a:txBody>
                    <a:bodyPr/>
                    <a:lstStyle/>
                    <a:p>
                      <a:pPr>
                        <a:defRPr sz="1300" b="1">
                          <a:solidFill>
                            <a:srgbClr val="FFFFFF"/>
                          </a:solidFill>
                          <a:latin typeface="Calibri"/>
                        </a:defRPr>
                      </a:pPr>
                      <a:r>
                        <a:t>Feature</a:t>
                      </a:r>
                    </a:p>
                  </a:txBody>
                  <a:tcPr>
                    <a:solidFill>
                      <a:srgbClr val="232F3E"/>
                    </a:solidFill>
                  </a:tcPr>
                </a:tc>
                <a:tc>
                  <a:txBody>
                    <a:bodyPr/>
                    <a:lstStyle/>
                    <a:p>
                      <a:pPr>
                        <a:defRPr sz="1300" b="1">
                          <a:solidFill>
                            <a:srgbClr val="FFFFFF"/>
                          </a:solidFill>
                          <a:latin typeface="Calibri"/>
                        </a:defRPr>
                      </a:pPr>
                      <a:r>
                        <a:t>Status</a:t>
                      </a:r>
                    </a:p>
                  </a:txBody>
                  <a:tcPr>
                    <a:solidFill>
                      <a:srgbClr val="232F3E"/>
                    </a:solidFill>
                  </a:tcPr>
                </a:tc>
                <a:tc>
                  <a:txBody>
                    <a:bodyPr/>
                    <a:lstStyle/>
                    <a:p>
                      <a:pPr>
                        <a:defRPr sz="1300" b="1">
                          <a:solidFill>
                            <a:srgbClr val="FFFFFF"/>
                          </a:solidFill>
                          <a:latin typeface="Calibri"/>
                        </a:defRPr>
                      </a:pPr>
                      <a:r>
                        <a:t>Description</a:t>
                      </a:r>
                    </a:p>
                  </a:txBody>
                  <a:tcPr>
                    <a:solidFill>
                      <a:srgbClr val="232F3E"/>
                    </a:solidFill>
                  </a:tcPr>
                </a:tc>
                <a:extLst>
                  <a:ext uri="{0D108BD9-81ED-4DB2-BD59-A6C34878D82A}">
                    <a16:rowId xmlns:a16="http://schemas.microsoft.com/office/drawing/2014/main" val="10000"/>
                  </a:ext>
                </a:extLst>
              </a:tr>
              <a:tr h="522514">
                <a:tc>
                  <a:txBody>
                    <a:bodyPr/>
                    <a:lstStyle/>
                    <a:p>
                      <a:pPr>
                        <a:defRPr sz="1200">
                          <a:solidFill>
                            <a:srgbClr val="232F3E"/>
                          </a:solidFill>
                          <a:latin typeface="Calibri"/>
                        </a:defRPr>
                      </a:pPr>
                      <a:r>
                        <a:t>Async Inference Endpoints</a:t>
                      </a:r>
                    </a:p>
                  </a:txBody>
                  <a:tcPr/>
                </a:tc>
                <a:tc>
                  <a:txBody>
                    <a:bodyPr/>
                    <a:lstStyle/>
                    <a:p>
                      <a:pPr>
                        <a:defRPr sz="1200">
                          <a:solidFill>
                            <a:srgbClr val="232F3E"/>
                          </a:solidFill>
                          <a:latin typeface="Calibri"/>
                        </a:defRPr>
                      </a:pPr>
                      <a:r>
                        <a:t>Designed</a:t>
                      </a:r>
                    </a:p>
                  </a:txBody>
                  <a:tcPr/>
                </a:tc>
                <a:tc>
                  <a:txBody>
                    <a:bodyPr/>
                    <a:lstStyle/>
                    <a:p>
                      <a:pPr>
                        <a:defRPr sz="1200">
                          <a:solidFill>
                            <a:srgbClr val="232F3E"/>
                          </a:solidFill>
                          <a:latin typeface="Calibri"/>
                        </a:defRPr>
                      </a:pPr>
                      <a:r>
                        <a:t>Large payloads (1GB), long inference (1hr), scale-to-zero</a:t>
                      </a:r>
                    </a:p>
                  </a:txBody>
                  <a:tcPr/>
                </a:tc>
                <a:extLst>
                  <a:ext uri="{0D108BD9-81ED-4DB2-BD59-A6C34878D82A}">
                    <a16:rowId xmlns:a16="http://schemas.microsoft.com/office/drawing/2014/main" val="10001"/>
                  </a:ext>
                </a:extLst>
              </a:tr>
              <a:tr h="522514">
                <a:tc>
                  <a:txBody>
                    <a:bodyPr/>
                    <a:lstStyle/>
                    <a:p>
                      <a:pPr>
                        <a:defRPr sz="1200">
                          <a:solidFill>
                            <a:srgbClr val="232F3E"/>
                          </a:solidFill>
                          <a:latin typeface="Calibri"/>
                        </a:defRPr>
                      </a:pPr>
                      <a:r>
                        <a:t>Diffusion Model Support</a:t>
                      </a:r>
                    </a:p>
                  </a:txBody>
                  <a:tcPr>
                    <a:solidFill>
                      <a:srgbClr val="F8F8F8"/>
                    </a:solidFill>
                  </a:tcPr>
                </a:tc>
                <a:tc>
                  <a:txBody>
                    <a:bodyPr/>
                    <a:lstStyle/>
                    <a:p>
                      <a:pPr>
                        <a:defRPr sz="1200">
                          <a:solidFill>
                            <a:srgbClr val="232F3E"/>
                          </a:solidFill>
                          <a:latin typeface="Calibri"/>
                        </a:defRPr>
                      </a:pPr>
                      <a:r>
                        <a:t>Designed</a:t>
                      </a:r>
                    </a:p>
                  </a:txBody>
                  <a:tcPr>
                    <a:solidFill>
                      <a:srgbClr val="F8F8F8"/>
                    </a:solidFill>
                  </a:tcPr>
                </a:tc>
                <a:tc>
                  <a:txBody>
                    <a:bodyPr/>
                    <a:lstStyle/>
                    <a:p>
                      <a:pPr>
                        <a:defRPr sz="1200">
                          <a:solidFill>
                            <a:srgbClr val="232F3E"/>
                          </a:solidFill>
                          <a:latin typeface="Calibri"/>
                        </a:defRPr>
                      </a:pPr>
                      <a:r>
                        <a:t>Image generation via vLLM-Omni (Stable Diffusion, FLUX)</a:t>
                      </a:r>
                    </a:p>
                  </a:txBody>
                  <a:tcPr>
                    <a:solidFill>
                      <a:srgbClr val="F8F8F8"/>
                    </a:solidFill>
                  </a:tcPr>
                </a:tc>
                <a:extLst>
                  <a:ext uri="{0D108BD9-81ED-4DB2-BD59-A6C34878D82A}">
                    <a16:rowId xmlns:a16="http://schemas.microsoft.com/office/drawing/2014/main" val="10002"/>
                  </a:ext>
                </a:extLst>
              </a:tr>
              <a:tr h="522514">
                <a:tc>
                  <a:txBody>
                    <a:bodyPr/>
                    <a:lstStyle/>
                    <a:p>
                      <a:pPr>
                        <a:defRPr sz="1200">
                          <a:solidFill>
                            <a:srgbClr val="232F3E"/>
                          </a:solidFill>
                          <a:latin typeface="Calibri"/>
                        </a:defRPr>
                      </a:pPr>
                      <a:r>
                        <a:t>Triton Sample Models</a:t>
                      </a:r>
                    </a:p>
                  </a:txBody>
                  <a:tcPr/>
                </a:tc>
                <a:tc>
                  <a:txBody>
                    <a:bodyPr/>
                    <a:lstStyle/>
                    <a:p>
                      <a:pPr>
                        <a:defRPr sz="1200">
                          <a:solidFill>
                            <a:srgbClr val="232F3E"/>
                          </a:solidFill>
                          <a:latin typeface="Calibri"/>
                        </a:defRPr>
                      </a:pPr>
                      <a:r>
                        <a:t>Designed</a:t>
                      </a:r>
                    </a:p>
                  </a:txBody>
                  <a:tcPr/>
                </a:tc>
                <a:tc>
                  <a:txBody>
                    <a:bodyPr/>
                    <a:lstStyle/>
                    <a:p>
                      <a:pPr>
                        <a:defRPr sz="1200">
                          <a:solidFill>
                            <a:srgbClr val="232F3E"/>
                          </a:solidFill>
                          <a:latin typeface="Calibri"/>
                        </a:defRPr>
                      </a:pPr>
                      <a:r>
                        <a:t>Auto-training for Triton backends (FIL, ONNX, TF, Python)</a:t>
                      </a:r>
                    </a:p>
                  </a:txBody>
                  <a:tcPr/>
                </a:tc>
                <a:extLst>
                  <a:ext uri="{0D108BD9-81ED-4DB2-BD59-A6C34878D82A}">
                    <a16:rowId xmlns:a16="http://schemas.microsoft.com/office/drawing/2014/main" val="10003"/>
                  </a:ext>
                </a:extLst>
              </a:tr>
              <a:tr h="522514">
                <a:tc>
                  <a:txBody>
                    <a:bodyPr/>
                    <a:lstStyle/>
                    <a:p>
                      <a:pPr>
                        <a:defRPr sz="1200">
                          <a:solidFill>
                            <a:srgbClr val="232F3E"/>
                          </a:solidFill>
                          <a:latin typeface="Calibri"/>
                        </a:defRPr>
                      </a:pPr>
                      <a:r>
                        <a:t>S3 Model Loading</a:t>
                      </a:r>
                    </a:p>
                  </a:txBody>
                  <a:tcPr>
                    <a:solidFill>
                      <a:srgbClr val="F8F8F8"/>
                    </a:solidFill>
                  </a:tcPr>
                </a:tc>
                <a:tc>
                  <a:txBody>
                    <a:bodyPr/>
                    <a:lstStyle/>
                    <a:p>
                      <a:pPr>
                        <a:defRPr sz="1200">
                          <a:solidFill>
                            <a:srgbClr val="232F3E"/>
                          </a:solidFill>
                          <a:latin typeface="Calibri"/>
                        </a:defRPr>
                      </a:pPr>
                      <a:r>
                        <a:t>Planned</a:t>
                      </a:r>
                    </a:p>
                  </a:txBody>
                  <a:tcPr>
                    <a:solidFill>
                      <a:srgbClr val="F8F8F8"/>
                    </a:solidFill>
                  </a:tcPr>
                </a:tc>
                <a:tc>
                  <a:txBody>
                    <a:bodyPr/>
                    <a:lstStyle/>
                    <a:p>
                      <a:pPr>
                        <a:defRPr sz="1200">
                          <a:solidFill>
                            <a:srgbClr val="232F3E"/>
                          </a:solidFill>
                          <a:latin typeface="Calibri"/>
                        </a:defRPr>
                      </a:pPr>
                      <a:r>
                        <a:t>Load models from S3 at runtime instead of baking into container</a:t>
                      </a:r>
                    </a:p>
                  </a:txBody>
                  <a:tcPr>
                    <a:solidFill>
                      <a:srgbClr val="F8F8F8"/>
                    </a:solidFill>
                  </a:tcPr>
                </a:tc>
                <a:extLst>
                  <a:ext uri="{0D108BD9-81ED-4DB2-BD59-A6C34878D82A}">
                    <a16:rowId xmlns:a16="http://schemas.microsoft.com/office/drawing/2014/main" val="10004"/>
                  </a:ext>
                </a:extLst>
              </a:tr>
              <a:tr h="522514">
                <a:tc>
                  <a:txBody>
                    <a:bodyPr/>
                    <a:lstStyle/>
                    <a:p>
                      <a:pPr>
                        <a:defRPr sz="1200">
                          <a:solidFill>
                            <a:srgbClr val="232F3E"/>
                          </a:solidFill>
                          <a:latin typeface="Calibri"/>
                        </a:defRPr>
                      </a:pPr>
                      <a:r>
                        <a:t>JumpStart Integration</a:t>
                      </a:r>
                    </a:p>
                  </a:txBody>
                  <a:tcPr/>
                </a:tc>
                <a:tc>
                  <a:txBody>
                    <a:bodyPr/>
                    <a:lstStyle/>
                    <a:p>
                      <a:pPr>
                        <a:defRPr sz="1200">
                          <a:solidFill>
                            <a:srgbClr val="232F3E"/>
                          </a:solidFill>
                          <a:latin typeface="Calibri"/>
                        </a:defRPr>
                      </a:pPr>
                      <a:r>
                        <a:t>Planned</a:t>
                      </a:r>
                    </a:p>
                  </a:txBody>
                  <a:tcPr/>
                </a:tc>
                <a:tc>
                  <a:txBody>
                    <a:bodyPr/>
                    <a:lstStyle/>
                    <a:p>
                      <a:pPr>
                        <a:defRPr sz="1200">
                          <a:solidFill>
                            <a:srgbClr val="232F3E"/>
                          </a:solidFill>
                          <a:latin typeface="Calibri"/>
                        </a:defRPr>
                      </a:pPr>
                      <a:r>
                        <a:t>Use JumpStart model artifacts with custom containers</a:t>
                      </a:r>
                    </a:p>
                  </a:txBody>
                  <a:tcPr/>
                </a:tc>
                <a:extLst>
                  <a:ext uri="{0D108BD9-81ED-4DB2-BD59-A6C34878D82A}">
                    <a16:rowId xmlns:a16="http://schemas.microsoft.com/office/drawing/2014/main" val="10005"/>
                  </a:ext>
                </a:extLst>
              </a:tr>
              <a:tr h="522516">
                <a:tc>
                  <a:txBody>
                    <a:bodyPr/>
                    <a:lstStyle/>
                    <a:p>
                      <a:pPr>
                        <a:defRPr sz="1200">
                          <a:solidFill>
                            <a:srgbClr val="232F3E"/>
                          </a:solidFill>
                          <a:latin typeface="Calibri"/>
                        </a:defRPr>
                      </a:pPr>
                      <a:r>
                        <a:t>Model Registry</a:t>
                      </a:r>
                    </a:p>
                  </a:txBody>
                  <a:tcPr>
                    <a:solidFill>
                      <a:srgbClr val="F8F8F8"/>
                    </a:solidFill>
                  </a:tcPr>
                </a:tc>
                <a:tc>
                  <a:txBody>
                    <a:bodyPr/>
                    <a:lstStyle/>
                    <a:p>
                      <a:pPr>
                        <a:defRPr sz="1200">
                          <a:solidFill>
                            <a:srgbClr val="232F3E"/>
                          </a:solidFill>
                          <a:latin typeface="Calibri"/>
                        </a:defRPr>
                      </a:pPr>
                      <a:r>
                        <a:t>Planned</a:t>
                      </a:r>
                    </a:p>
                  </a:txBody>
                  <a:tcPr>
                    <a:solidFill>
                      <a:srgbClr val="F8F8F8"/>
                    </a:solidFill>
                  </a:tcPr>
                </a:tc>
                <a:tc>
                  <a:txBody>
                    <a:bodyPr/>
                    <a:lstStyle/>
                    <a:p>
                      <a:pPr>
                        <a:defRPr sz="1200">
                          <a:solidFill>
                            <a:srgbClr val="232F3E"/>
                          </a:solidFill>
                          <a:latin typeface="Calibri"/>
                        </a:defRPr>
                      </a:pPr>
                      <a:r>
                        <a:t>Pull models from SageMaker Model Registry</a:t>
                      </a:r>
                    </a:p>
                  </a:txBody>
                  <a:tcPr>
                    <a:solidFill>
                      <a:srgbClr val="F8F8F8"/>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731520" y="5303520"/>
            <a:ext cx="10058400" cy="731520"/>
          </a:xfrm>
          <a:prstGeom prst="rect">
            <a:avLst/>
          </a:prstGeom>
          <a:noFill/>
        </p:spPr>
        <p:txBody>
          <a:bodyPr wrap="square">
            <a:spAutoFit/>
          </a:bodyPr>
          <a:lstStyle/>
          <a:p>
            <a:pPr algn="l">
              <a:defRPr sz="1400" b="0">
                <a:solidFill>
                  <a:srgbClr val="666666"/>
                </a:solidFill>
                <a:latin typeface="Calibri"/>
              </a:defRPr>
            </a:pPr>
            <a:r>
              <a:t>Designed = full spec exists  ·  Planned = on roadmap, not yet specced</a:t>
            </a:r>
            <a:br/>
            <a:r>
              <a:t>Contributions and use cases welcome!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32F3E"/>
        </a:solidFill>
        <a:effectLst/>
      </p:bgPr>
    </p:bg>
    <p:spTree>
      <p:nvGrpSpPr>
        <p:cNvPr id="1" name=""/>
        <p:cNvGrpSpPr/>
        <p:nvPr/>
      </p:nvGrpSpPr>
      <p:grpSpPr>
        <a:xfrm>
          <a:off x="0" y="0"/>
          <a:ext cx="0" cy="0"/>
          <a:chOff x="0" y="0"/>
          <a:chExt cx="0" cy="0"/>
        </a:xfrm>
      </p:grpSpPr>
      <p:sp>
        <p:nvSpPr>
          <p:cNvPr id="2" name="Rectangle 1"/>
          <p:cNvSpPr/>
          <p:nvPr/>
        </p:nvSpPr>
        <p:spPr>
          <a:xfrm>
            <a:off x="0" y="6583680"/>
            <a:ext cx="12191695" cy="5486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914400"/>
            <a:ext cx="10058400" cy="731520"/>
          </a:xfrm>
          <a:prstGeom prst="rect">
            <a:avLst/>
          </a:prstGeom>
          <a:noFill/>
        </p:spPr>
        <p:txBody>
          <a:bodyPr wrap="square">
            <a:spAutoFit/>
          </a:bodyPr>
          <a:lstStyle/>
          <a:p>
            <a:pPr algn="ctr">
              <a:defRPr sz="3600" b="1">
                <a:solidFill>
                  <a:srgbClr val="FFFFFF"/>
                </a:solidFill>
                <a:latin typeface="Calibri"/>
              </a:defRPr>
            </a:pPr>
            <a:r>
              <a:t>Getting Started</a:t>
            </a:r>
          </a:p>
        </p:txBody>
      </p:sp>
      <p:sp>
        <p:nvSpPr>
          <p:cNvPr id="4" name="TextBox 3"/>
          <p:cNvSpPr txBox="1"/>
          <p:nvPr/>
        </p:nvSpPr>
        <p:spPr>
          <a:xfrm>
            <a:off x="2286000" y="2011680"/>
            <a:ext cx="7315200" cy="2286000"/>
          </a:xfrm>
          <a:prstGeom prst="rect">
            <a:avLst/>
          </a:prstGeom>
          <a:noFill/>
        </p:spPr>
        <p:txBody>
          <a:bodyPr wrap="square">
            <a:spAutoFit/>
          </a:bodyPr>
          <a:lstStyle/>
          <a:p>
            <a:pPr>
              <a:spcAft>
                <a:spcPts val="600"/>
              </a:spcAft>
              <a:defRPr sz="1600">
                <a:solidFill>
                  <a:srgbClr val="CCCCCC"/>
                </a:solidFill>
                <a:latin typeface="Calibri"/>
              </a:defRPr>
            </a:pPr>
            <a:r>
              <a:t>Prerequisites: Node.js 24+  ·  Python 3.8+  ·  Docker 20+  ·  AWS CLI 2+</a:t>
            </a:r>
          </a:p>
          <a:p>
            <a:pPr>
              <a:spcAft>
                <a:spcPts val="600"/>
              </a:spcAft>
              <a:defRPr sz="1600">
                <a:solidFill>
                  <a:srgbClr val="CCCCCC"/>
                </a:solidFill>
                <a:latin typeface="Calibri"/>
              </a:defRPr>
            </a:pPr>
            <a:endParaRPr/>
          </a:p>
          <a:p>
            <a:pPr>
              <a:spcAft>
                <a:spcPts val="600"/>
              </a:spcAft>
              <a:defRPr sz="1600">
                <a:solidFill>
                  <a:srgbClr val="CCCCCC"/>
                </a:solidFill>
                <a:latin typeface="Calibri"/>
              </a:defRPr>
            </a:pPr>
            <a:r>
              <a:t>git clone https://github.com/awslabs/ml-container-creator.git</a:t>
            </a:r>
          </a:p>
          <a:p>
            <a:pPr>
              <a:spcAft>
                <a:spcPts val="600"/>
              </a:spcAft>
              <a:defRPr sz="1600">
                <a:solidFill>
                  <a:srgbClr val="CCCCCC"/>
                </a:solidFill>
                <a:latin typeface="Calibri"/>
              </a:defRPr>
            </a:pPr>
            <a:r>
              <a:t>cd ml-container-creator &amp;&amp; npm install &amp;&amp; npm link</a:t>
            </a:r>
          </a:p>
          <a:p>
            <a:pPr>
              <a:spcAft>
                <a:spcPts val="600"/>
              </a:spcAft>
              <a:defRPr sz="1600">
                <a:solidFill>
                  <a:srgbClr val="CCCCCC"/>
                </a:solidFill>
                <a:latin typeface="Calibri"/>
              </a:defRPr>
            </a:pPr>
            <a:r>
              <a:t>yo @aws/ml-container-creator</a:t>
            </a:r>
          </a:p>
        </p:txBody>
      </p:sp>
      <p:sp>
        <p:nvSpPr>
          <p:cNvPr id="5" name="TextBox 4"/>
          <p:cNvSpPr txBox="1"/>
          <p:nvPr/>
        </p:nvSpPr>
        <p:spPr>
          <a:xfrm>
            <a:off x="914400" y="4572000"/>
            <a:ext cx="10058400" cy="731520"/>
          </a:xfrm>
          <a:prstGeom prst="rect">
            <a:avLst/>
          </a:prstGeom>
          <a:noFill/>
        </p:spPr>
        <p:txBody>
          <a:bodyPr wrap="square">
            <a:spAutoFit/>
          </a:bodyPr>
          <a:lstStyle/>
          <a:p>
            <a:pPr algn="ctr">
              <a:defRPr sz="3200" b="1">
                <a:solidFill>
                  <a:srgbClr val="FF9900"/>
                </a:solidFill>
                <a:latin typeface="Calibri"/>
              </a:defRPr>
            </a:pPr>
            <a:r>
              <a:t>Thank You — Questions?</a:t>
            </a:r>
          </a:p>
        </p:txBody>
      </p:sp>
      <p:sp>
        <p:nvSpPr>
          <p:cNvPr id="6" name="TextBox 5"/>
          <p:cNvSpPr txBox="1"/>
          <p:nvPr/>
        </p:nvSpPr>
        <p:spPr>
          <a:xfrm>
            <a:off x="914400" y="5486400"/>
            <a:ext cx="10058400" cy="457200"/>
          </a:xfrm>
          <a:prstGeom prst="rect">
            <a:avLst/>
          </a:prstGeom>
          <a:noFill/>
        </p:spPr>
        <p:txBody>
          <a:bodyPr wrap="square">
            <a:spAutoFit/>
          </a:bodyPr>
          <a:lstStyle/>
          <a:p>
            <a:pPr algn="ctr">
              <a:defRPr sz="1400" b="0">
                <a:solidFill>
                  <a:srgbClr val="888888"/>
                </a:solidFill>
                <a:latin typeface="Calibri"/>
              </a:defRPr>
            </a:pPr>
            <a:r>
              <a:t>📖 awslabs.github.io/ml-container-creator   ·   💻 github.com/awslabs/ml-container-creator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1588</Words>
  <Application>Microsoft Macintosh PowerPoint</Application>
  <PresentationFormat>Widescreen</PresentationFormat>
  <Paragraphs>178</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Ferguson, Dan</cp:lastModifiedBy>
  <cp:revision>2</cp:revision>
  <dcterms:created xsi:type="dcterms:W3CDTF">2013-01-27T09:14:16Z</dcterms:created>
  <dcterms:modified xsi:type="dcterms:W3CDTF">2026-03-23T18:26:53Z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2026-03-23T18:26:53Z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8c884c21-7c2e-4a9d-8d6c-1021e8fd10d9</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